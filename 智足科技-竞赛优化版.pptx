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是智足科技团队，今天带来的项目是数据赋能鞋业。先给大家一个数字：传统鞋业的库存周转是一百四十五天，而接入智足系统之后，只需要六十八天，降幅超过一半。这背后是一套怎样的数据体系？接下来的几分钟，我们用一个完整的闭环来回答这个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汇报分四步。第一步看困局：一个规模超五千亿的市场，为什么中小鞋企普遍产销脱节、库存积压。第二步讲模式：智足如何用B2C理念和SaaS数据链路，把电商数据和用户行为反馈变成精准的生产指令。第三步亮壁垒：数据中台加独家渠道数据，为什么竞争对手难以复制。第四步拿实证：用一家标杆企业的真实指标，检验这套模式到底值不值。困局、模式、壁垒、实证，环环相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先进入第一部分，行业困局与转型刚需。这一部分我们回答一个问题：传统鞋业的库存，为什么这么高？以销定产为什么喊了这么多年，就是落不了地？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看这张剪刀差图。二零二四年行业总产能八十亿双，实际产量只有五十二点八亿双，闲置了整整二十亿双，产能利用率只有百分之七十三点二。产得多、卖得慢，后果直接写在三个问题上。第一，产能与库存双重恶化：库存十五点六亿双，同比上涨百分之十八点七，周转天数拉长到一百二十七天，流动性风险上升。第二，需求侧与供给侧严重错配：入门级供给过剩百分之三十五点六，高端市场却有百分之十八点四的缺口。第三，产品同质化加数字鸿沟：功能同质化接近八成，中小鞋企数字化能力缺失，只能凭经验盲目生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为什么厂商摸不清真实需求？关键在链路。传统分销是五层转手：工厂、省代、市代、终端，最后才到消费者。渠道成本层层加价百分之十五到二十五，信息延迟七到十五天，等反馈回来，九十天的研发周期早就过去了，库存周转被拖到一百一十二天，近半数渠道之间数据根本未互通。而数据中台把链路压成两层直达：工厂、中台、消费者。需求响应提升四成以上，库存周转降到三十天以内，热词、加购、退货全部实时监测。一句话总结：层级越少，数据越真。这就是模式重构的起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第二部分，智足模式。我们用B2C的理念和SaaS的数据链路，回答刚才的问题——怎么把真实需求，又快又准地送到工厂手里。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智足的B2C数据链路，四步闭环。第一步，全景数据采集：多源探针毫秒级捕捉前端行为，覆盖浏览轨迹、停留时长等十五类异构数据。第二步，天枢引擎处理：动态贝叶斯预测模型加时序注意力机制，生成偏好宽表，构建高精度需求图谱。第三步，SaaS实时推送：洞察指令无缝衔接厂商的生产和研发系统，比如差评率一旦上升就触发预警、建议调整鞋楦参数。第四步，敏捷闭环反馈：末端数据回流采集端，把数月级的问题解决周期压缩到四十八小时。这套链路日均处理两千万条数据，端到端延迟三百毫秒以内，库存积压风险为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小单快反跑起来之后，收益体现在五个维度。精准匹配：预测周期提前十四到三十天，预测准确率比行业高出十二点三个百分点，库存积压率从百分之十八压到百分之四。生产与库存：首单生产量降低四成。营销与转化：投放转化率提升百分之三十五，新品上市成功率百分之六十八。供应链：原材料浪费减少两成，交付周期从二十五天缩到七天，整体效率提升七成以上。最后是财务闭环：库存周转缩短四十二天，资金占用下降三成，毛利率提升五到八个百分点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第三部分，核心壁垒。数据这个词人人都在讲，智足的数据护城河，到底在哪里？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答案是独家数据源，三个渠道。第一，头部电商加物流商，整合多方平台，覆盖超过五千万活跃用户的轨迹。第二，直播互动情感数据，实时捕捉消费情绪。第三，售后评论的深度语义分析，从百万条退换货评论里精准识别产品缺陷。这些数据，别人拿不到。效果也有实证：同样训练爆款预测模型，独家数据源比公开数据的准确率高出百分之十八点五。数据独占构建了高门槛壁垒，让智足成为产业链上不可或缺的信息枢纽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能有评委会问：通用ERP、传统咨询也能做数字化，为什么一定是智足？我们用三个判据横向对比。数据维度上，ERP局限在企业内部、缺乏外部实时输入，咨询靠静态抽样、按季度甚至年度更新，而智足内外部数据实时打通，精确到单个SKU的实时动销和用户反馈。响应速度上，ERP最快也要隔一天，咨询动辄数周，智足是分钟级——云原生加流式计算，把天级压缩到分钟级。服务深度上，ERP是标准模块、缺乏鞋业定制，咨询止步于报告交付，智足提供SaaS工具、数据咨询加运营陪跑的一站式服务，直接嵌入生产排程与营销策划。三维全面领先，这就是不可替代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最后一部分，实证复盘。模式讲得再好，不如看一家真实企业的改变。我们拆解一家标杆案例的指标，也总结它能不能被复制。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家常年受困于库存高企、产销脱节的鞋企。对比框架很简单：接入前是二零二四年，接入后到二零二五年底，六个月改造。最核心的一条：库存周转天数从一百四十五天降到六十八天，降幅百分之五十三。配套指标全线改善：季末滞销库存占比从百分之三十二显著下降；新品售罄率提升三十三个百分点；订单交付周期缩短十九天；客户满意度从四点二升到四点八。最后落到财务上：资金占用成本减少四百五十万元，毛利率提升六点五个百分点。这就是数据链路的兑现能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案例的意义，不止于商业层面。深度融合数据、算法与场景，优化配置传统生产要素，实现全要素生产率的大幅提升——这本身就是在传统制造业里培育新质生产力的生动样本。它带来三重价值。逻辑上，打破经验依赖，建立数据驱动的生产逻辑。价值上，用低成本数字化方案降低转型门槛，推动产业链协同升级，让中小鞋企也用得起。产业上，缓解库存浪费契合绿色发展，为传统产业提供一套可复制的转型方法论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以数据赋能智造，共创美好未来。智足科技，感谢各位评委的聆听，也期待与各位携手，推动传统制造业的数字化转型升级。敬请批评指正。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智足科技竞赛版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智足科技竞赛版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4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42000" t="36000" r="58000" b="64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762000"/>
            <a:ext cx="4713587" cy="270701"/>
            <a:chOff x="609600" y="762000"/>
            <a:chExt cx="4713587" cy="270701"/>
          </a:xfrm>
        </p:grpSpPr>
        <p:sp>
          <p:nvSpPr>
            <p:cNvPr id="4" name="Rectangle 4"/>
            <p:cNvSpPr/>
            <p:nvPr/>
          </p:nvSpPr>
          <p:spPr>
            <a:xfrm>
              <a:off x="609600" y="762000"/>
              <a:ext cx="3810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55142" y="768668"/>
              <a:ext cx="4568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38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中国国际大学生创新大赛 · 高教主赛道 · 本科生创意组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0550" y="1969770"/>
            <a:ext cx="8185370" cy="1047750"/>
            <a:chOff x="590550" y="1969770"/>
            <a:chExt cx="8185370" cy="1047750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969770"/>
              <a:ext cx="818537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智足科技 · 数据赋能鞋业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781300"/>
              <a:ext cx="17145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7408" y="3055620"/>
            <a:ext cx="4547616" cy="469392"/>
            <a:chOff x="597408" y="3055620"/>
            <a:chExt cx="4547616" cy="469392"/>
          </a:xfrm>
        </p:grpSpPr>
        <p:sp>
          <p:nvSpPr>
            <p:cNvPr id="10" name="TextBox 10"/>
            <p:cNvSpPr txBox="1"/>
            <p:nvPr/>
          </p:nvSpPr>
          <p:spPr>
            <a:xfrm>
              <a:off x="597408" y="305562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助力鞋靴厂商销售升级的领跑者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0550" y="3926205"/>
            <a:ext cx="5962650" cy="1274445"/>
            <a:chOff x="590550" y="3926205"/>
            <a:chExt cx="5962650" cy="1274445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392620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让鞋业库存周转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0550" y="4324350"/>
              <a:ext cx="15101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145</a:t>
              </a:r>
              <a:r>
                <a:rPr lang="zh-CN" sz="27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14750" y="4324350"/>
              <a:ext cx="1176985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dirty="0">
                  <a:solidFill>
                    <a:schemeClr val="accent2"/>
                  </a:solidFill>
                  <a:effectLst>
                    <a:glow rad="57150">
                      <a:srgbClr val="2FD4A7">
                        <a:alpha val="4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68</a:t>
              </a:r>
              <a:r>
                <a:rPr lang="zh-CN" sz="2700" dirty="0">
                  <a:solidFill>
                    <a:schemeClr val="accent2"/>
                  </a:solidFill>
                  <a:effectLst>
                    <a:glow rad="57150">
                      <a:srgbClr val="2FD4A7">
                        <a:alpha val="4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62600" y="4438650"/>
              <a:ext cx="990600" cy="342900"/>
            </a:xfrm>
            <a:prstGeom prst="roundRect">
              <a:avLst>
                <a:gd name="adj" fmla="val 11111"/>
              </a:avLst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32958" y="452151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↓53%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2781300" y="4438650"/>
            <a:ext cx="685800" cy="34290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0" y="5657850"/>
            <a:ext cx="12192000" cy="647700"/>
            <a:chOff x="0" y="5657850"/>
            <a:chExt cx="12192000" cy="647700"/>
          </a:xfrm>
        </p:grpSpPr>
        <p:sp>
          <p:nvSpPr>
            <p:cNvPr id="19" name="Freeform 19"/>
            <p:cNvSpPr/>
            <p:nvPr/>
          </p:nvSpPr>
          <p:spPr>
            <a:xfrm>
              <a:off x="0" y="5695950"/>
              <a:ext cx="12192000" cy="495300"/>
            </a:xfrm>
            <a:custGeom>
              <a:avLst/>
              <a:gdLst/>
              <a:ahLst/>
              <a:cxnLst/>
              <a:rect l="l" t="t" r="r" b="b"/>
              <a:pathLst>
                <a:path w="12192000" h="495300">
                  <a:moveTo>
                    <a:pt x="0" y="495300"/>
                  </a:moveTo>
                  <a:lnTo>
                    <a:pt x="2857500" y="495300"/>
                  </a:lnTo>
                  <a:lnTo>
                    <a:pt x="2857500" y="0"/>
                  </a:lnTo>
                  <a:lnTo>
                    <a:pt x="6667500" y="0"/>
                  </a:lnTo>
                  <a:lnTo>
                    <a:pt x="6667500" y="495300"/>
                  </a:lnTo>
                  <a:lnTo>
                    <a:pt x="12192000" y="495300"/>
                  </a:lnTo>
                </a:path>
              </a:pathLst>
            </a:custGeom>
            <a:noFill/>
            <a:ln w="23812">
              <a:gradFill>
                <a:gsLst>
                  <a:gs pos="0">
                    <a:schemeClr val="accent1">
                      <a:alpha val="0"/>
                    </a:schemeClr>
                  </a:gs>
                  <a:gs pos="35000">
                    <a:schemeClr val="accent1">
                      <a:alpha val="90000"/>
                    </a:schemeClr>
                  </a:gs>
                  <a:gs pos="100000">
                    <a:schemeClr val="accent2">
                      <a:alpha val="90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819400" y="6153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629400" y="56578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467850" y="6134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410700" y="6076950"/>
              <a:ext cx="228600" cy="2286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3598" y="749618"/>
            <a:ext cx="4677118" cy="1377505"/>
            <a:chOff x="593598" y="749618"/>
            <a:chExt cx="4677118" cy="1377505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8932" y="17164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四步论证：困局 · 模式 · 壁垒 · 实证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2057400"/>
            <a:ext cx="5257800" cy="1943100"/>
            <a:chOff x="609600" y="2057400"/>
            <a:chExt cx="5257800" cy="1943100"/>
          </a:xfrm>
        </p:grpSpPr>
        <p:sp>
          <p:nvSpPr>
            <p:cNvPr id="7" name="Rectangle 7"/>
            <p:cNvSpPr/>
            <p:nvPr/>
          </p:nvSpPr>
          <p:spPr>
            <a:xfrm>
              <a:off x="609600" y="2057400"/>
              <a:ext cx="5257800" cy="1943100"/>
            </a:xfrm>
            <a:prstGeom prst="roundRect">
              <a:avLst>
                <a:gd name="adj" fmla="val 1961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5350" y="25184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52600" y="24003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51482" y="24403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行业困局与转型刚需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5292" y="2902268"/>
              <a:ext cx="23797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市场规模超 5000 亿，中小鞋企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产销脱节、库存积压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4970463" y="3609975"/>
              <a:ext cx="155575" cy="133350"/>
              <a:chOff x="4970463" y="3609975"/>
              <a:chExt cx="155575" cy="1333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970463" y="36766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059363" y="36766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059363" y="36099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26" name="Group 26"/>
          <p:cNvGrpSpPr/>
          <p:nvPr/>
        </p:nvGrpSpPr>
        <p:grpSpPr>
          <a:xfrm>
            <a:off x="6248400" y="2057400"/>
            <a:ext cx="5257800" cy="1943100"/>
            <a:chOff x="6248400" y="2057400"/>
            <a:chExt cx="5257800" cy="1943100"/>
          </a:xfrm>
        </p:grpSpPr>
        <p:sp>
          <p:nvSpPr>
            <p:cNvPr id="17" name="Rectangle 17"/>
            <p:cNvSpPr/>
            <p:nvPr/>
          </p:nvSpPr>
          <p:spPr>
            <a:xfrm>
              <a:off x="6248400" y="2057400"/>
              <a:ext cx="5257800" cy="1943100"/>
            </a:xfrm>
            <a:prstGeom prst="roundRect">
              <a:avLst>
                <a:gd name="adj" fmla="val 1961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34150" y="25184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391400" y="24003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90282" y="24403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智足模式数据驱动升级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94092" y="2902268"/>
              <a:ext cx="240544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B2C 商业模式，电商数据分析与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用户行为反馈精准匹配需求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0609263" y="3609975"/>
              <a:ext cx="155575" cy="133350"/>
              <a:chOff x="10609263" y="3609975"/>
              <a:chExt cx="155575" cy="1333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609263" y="36766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0698163" y="36766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698163" y="36099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36" name="Group 36"/>
          <p:cNvGrpSpPr/>
          <p:nvPr/>
        </p:nvGrpSpPr>
        <p:grpSpPr>
          <a:xfrm>
            <a:off x="609600" y="4229100"/>
            <a:ext cx="5257800" cy="1943100"/>
            <a:chOff x="609600" y="4229100"/>
            <a:chExt cx="5257800" cy="1943100"/>
          </a:xfrm>
        </p:grpSpPr>
        <p:sp>
          <p:nvSpPr>
            <p:cNvPr id="27" name="Rectangle 27"/>
            <p:cNvSpPr/>
            <p:nvPr/>
          </p:nvSpPr>
          <p:spPr>
            <a:xfrm>
              <a:off x="609600" y="4229100"/>
              <a:ext cx="5257800" cy="1943100"/>
            </a:xfrm>
            <a:prstGeom prst="roundRect">
              <a:avLst>
                <a:gd name="adj" fmla="val 1961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95350" y="4690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1752600" y="45720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51482" y="46120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核心壁垒独家数据优势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55292" y="5073968"/>
              <a:ext cx="24740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数据中台壁垒，SaaS + 数据咨询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双轮驱动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4970463" y="5781675"/>
              <a:ext cx="155575" cy="133350"/>
              <a:chOff x="4970463" y="5781675"/>
              <a:chExt cx="155575" cy="1333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4970463" y="58483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059363" y="58483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059363" y="57816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6248400" y="4229100"/>
            <a:ext cx="5257800" cy="1943100"/>
            <a:chOff x="6248400" y="4229100"/>
            <a:chExt cx="5257800" cy="19431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229100"/>
              <a:ext cx="5257800" cy="1943100"/>
            </a:xfrm>
            <a:prstGeom prst="roundRect">
              <a:avLst>
                <a:gd name="adj" fmla="val 1961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4150" y="4690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391400" y="45720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90282" y="461200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实证复盘标杆案例价值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94092" y="5073968"/>
              <a:ext cx="27569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高教主赛道本科生创意组铜奖实证，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可复制样本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0609263" y="5781675"/>
              <a:ext cx="155575" cy="133350"/>
              <a:chOff x="10609263" y="5781675"/>
              <a:chExt cx="155575" cy="1333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609263" y="58483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698163" y="58483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98163" y="57816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</p:grpSp>
      <p:grpSp>
        <p:nvGrpSpPr>
          <p:cNvPr id="56" name="Group 56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47" name="Line 47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0000" t="42000" r="70000" b="58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2404110"/>
            <a:ext cx="7945374" cy="1437513"/>
            <a:chOff x="590550" y="2404110"/>
            <a:chExt cx="7945374" cy="1437513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404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57150">
                      <a:srgbClr val="2E7CF6">
                        <a:alpha val="5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90700" y="240411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行业困局与转型刚需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3143250"/>
              <a:ext cx="40005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3430905"/>
              <a:ext cx="79369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剖析传统鞋业库存高企与需求错配矛盾，论证以销定产的紧迫性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057775"/>
            <a:ext cx="10972800" cy="537400"/>
            <a:chOff x="609600" y="5057775"/>
            <a:chExt cx="10972800" cy="537400"/>
          </a:xfrm>
        </p:grpSpPr>
        <p:sp>
          <p:nvSpPr>
            <p:cNvPr id="9" name="Line 9"/>
            <p:cNvSpPr/>
            <p:nvPr/>
          </p:nvSpPr>
          <p:spPr>
            <a:xfrm>
              <a:off x="609600" y="5191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24406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5179219"/>
              <a:ext cx="1962150" cy="23812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05075" y="51244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438400" y="5057775"/>
              <a:ext cx="266700" cy="2667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90537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8662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66787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831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困局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644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56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269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21" name="Line 21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3848481" cy="955167"/>
            <a:chOff x="593598" y="749618"/>
            <a:chExt cx="3848481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597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01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行业困局与转型刚需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产销剪刀差凸显危机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8741664" cy="352044"/>
            <a:chOff x="600456" y="1748790"/>
            <a:chExt cx="8741664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8741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行业总产值攀升，但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产能过剩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库存积压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成为悬在中小鞋企头上的达摩克利斯之剑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2742" y="2057400"/>
            <a:ext cx="4540758" cy="308801"/>
            <a:chOff x="602742" y="2057400"/>
            <a:chExt cx="4540758" cy="308801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210216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2024 年产能 vs 产量（亿双）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657600" y="2057400"/>
              <a:ext cx="1485900" cy="247650"/>
            </a:xfrm>
            <a:prstGeom prst="roundRect">
              <a:avLst>
                <a:gd name="adj" fmla="val 15385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44239" y="2099310"/>
              <a:ext cx="13126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产能利用率 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73.2%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0156" y="2358390"/>
            <a:ext cx="4203344" cy="2979611"/>
            <a:chOff x="940156" y="2358390"/>
            <a:chExt cx="4203344" cy="2979611"/>
          </a:xfrm>
        </p:grpSpPr>
        <p:grpSp>
          <p:nvGrpSpPr>
            <p:cNvPr id="33" name="Group 33"/>
            <p:cNvGrpSpPr/>
            <p:nvPr/>
          </p:nvGrpSpPr>
          <p:grpSpPr>
            <a:xfrm>
              <a:off x="940156" y="2358390"/>
              <a:ext cx="4203344" cy="2979611"/>
              <a:chOff x="940156" y="2358390"/>
              <a:chExt cx="4203344" cy="2979611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1238250" y="43815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238250" y="38100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238250" y="32385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238250" y="26670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29005" y="486156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56" y="42900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56" y="37185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40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0156" y="31470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60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0156" y="257556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80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238250" y="2667000"/>
                <a:ext cx="9525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0">
                    <a:moveTo>
                      <a:pt x="0" y="0"/>
                    </a:moveTo>
                    <a:lnTo>
                      <a:pt x="0" y="2286000"/>
                    </a:lnTo>
                  </a:path>
                </a:pathLst>
              </a:custGeom>
              <a:noFill/>
              <a:ln w="14288">
                <a:solidFill>
                  <a:srgbClr val="24406B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1238250" y="49530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14288">
                <a:solidFill>
                  <a:srgbClr val="24406B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714500" y="2667000"/>
                <a:ext cx="857250" cy="2286000"/>
              </a:xfrm>
              <a:prstGeom prst="rect">
                <a:avLst/>
              </a:prstGeom>
              <a:solidFill>
                <a:schemeClr val="accent1">
                  <a:alpha val="25000"/>
                </a:schemeClr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619500" y="3444240"/>
                <a:ext cx="857250" cy="150876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000707" y="235839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80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72433" y="313944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52.8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63662" y="5073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总产能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677793" y="5073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实际产量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3095625" y="2705100"/>
                <a:ext cx="9525" cy="70104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01040">
                    <a:moveTo>
                      <a:pt x="0" y="0"/>
                    </a:moveTo>
                    <a:lnTo>
                      <a:pt x="0" y="701040"/>
                    </a:lnTo>
                  </a:path>
                </a:pathLst>
              </a:custGeom>
              <a:noFill/>
              <a:ln w="9525">
                <a:solidFill>
                  <a:srgbClr val="9DB2D6"/>
                </a:solidFill>
                <a:prstDash val="lgDashDot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3028950" y="27051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9525">
                <a:solidFill>
                  <a:srgbClr val="9DB2D6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3028950" y="340614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9525">
                <a:solidFill>
                  <a:srgbClr val="9DB2D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280029" y="2975610"/>
                <a:ext cx="9443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 xml:space="preserve">闲置 </a:t>
                </a:r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 亿双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638800" y="2167890"/>
            <a:ext cx="5377837" cy="865061"/>
            <a:chOff x="5638800" y="2167890"/>
            <a:chExt cx="5377837" cy="865061"/>
          </a:xfrm>
        </p:grpSpPr>
        <p:grpSp>
          <p:nvGrpSpPr>
            <p:cNvPr id="37" name="Group 37"/>
            <p:cNvGrpSpPr/>
            <p:nvPr/>
          </p:nvGrpSpPr>
          <p:grpSpPr>
            <a:xfrm>
              <a:off x="5638800" y="2222500"/>
              <a:ext cx="228600" cy="127000"/>
              <a:chOff x="5638800" y="2222500"/>
              <a:chExt cx="228600" cy="12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638800" y="2222500"/>
                <a:ext cx="228599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27000">
                    <a:moveTo>
                      <a:pt x="0" y="0"/>
                    </a:moveTo>
                    <a:lnTo>
                      <a:pt x="76200" y="76200"/>
                    </a:lnTo>
                    <a:lnTo>
                      <a:pt x="127000" y="25400"/>
                    </a:lnTo>
                    <a:lnTo>
                      <a:pt x="228599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778500" y="2260600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88900" y="0"/>
                    </a:moveTo>
                    <a:lnTo>
                      <a:pt x="88900" y="88900"/>
                    </a:lnTo>
                    <a:lnTo>
                      <a:pt x="0" y="889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048756" y="2167890"/>
              <a:ext cx="25989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01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产能与库存双重恶化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51042" y="2521268"/>
              <a:ext cx="4965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库存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15.6 亿双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（同比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+18.7%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），周转天数延长至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127 天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5104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流动性风险上升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76900" y="3272790"/>
            <a:ext cx="3455441" cy="617411"/>
            <a:chOff x="5676900" y="3272790"/>
            <a:chExt cx="3455441" cy="617411"/>
          </a:xfrm>
        </p:grpSpPr>
        <p:grpSp>
          <p:nvGrpSpPr>
            <p:cNvPr id="44" name="Group 44"/>
            <p:cNvGrpSpPr/>
            <p:nvPr/>
          </p:nvGrpSpPr>
          <p:grpSpPr>
            <a:xfrm>
              <a:off x="5676900" y="3314700"/>
              <a:ext cx="152400" cy="152400"/>
              <a:chOff x="5676900" y="3314700"/>
              <a:chExt cx="152400" cy="152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5676900" y="3314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676900" y="3314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048756" y="3272790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02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需求侧与供给侧严重错配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51042" y="36261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入门级供给过剩，高端市场供需缺口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51500" y="4377690"/>
            <a:ext cx="3866261" cy="617411"/>
            <a:chOff x="5651500" y="4377690"/>
            <a:chExt cx="3866261" cy="617411"/>
          </a:xfrm>
        </p:grpSpPr>
        <p:grpSp>
          <p:nvGrpSpPr>
            <p:cNvPr id="51" name="Group 51"/>
            <p:cNvGrpSpPr/>
            <p:nvPr/>
          </p:nvGrpSpPr>
          <p:grpSpPr>
            <a:xfrm>
              <a:off x="5651500" y="4381500"/>
              <a:ext cx="203199" cy="228600"/>
              <a:chOff x="5651500" y="4381500"/>
              <a:chExt cx="203199" cy="2286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5651500" y="43815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5651500" y="44196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5651500" y="44958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048756" y="4377690"/>
              <a:ext cx="28412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03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产品同质化与数字鸿沟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51042" y="47310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中小企数字化能力缺失，依赖经验盲目生产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" y="5486400"/>
            <a:ext cx="10972800" cy="710184"/>
            <a:chOff x="609600" y="5486400"/>
            <a:chExt cx="10972800" cy="710184"/>
          </a:xfrm>
        </p:grpSpPr>
        <p:sp>
          <p:nvSpPr>
            <p:cNvPr id="55" name="Rectangle 55"/>
            <p:cNvSpPr/>
            <p:nvPr/>
          </p:nvSpPr>
          <p:spPr>
            <a:xfrm>
              <a:off x="609600" y="548640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24384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42672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0960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79248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97536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33272" y="5604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库存（亿双）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48308" y="58445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15.6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942844" y="560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周转（天）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43745" y="58445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29328" y="5604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入门级供给过剩率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39272" y="584454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35.6%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19672" y="5604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高端供需缺口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8071" y="584454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18.4%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29244" y="560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功能同质化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96872" y="584454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78.3%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258044" y="560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外观相似度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25672" y="584454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43.8%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74" name="Line 74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4181363" cy="955167"/>
            <a:chOff x="593598" y="749618"/>
            <a:chExt cx="4181363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597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01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行业困局与转型刚需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41813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五层分销 vs 两层直达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9008212" cy="352044"/>
            <a:chOff x="600456" y="1748790"/>
            <a:chExt cx="9008212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9008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同一条价值链，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中间层级的数量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决定数据的命运——谁能缩短链路，谁就掌握真实需求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9600" y="2286000"/>
            <a:ext cx="4953000" cy="3524250"/>
            <a:chOff x="609600" y="2286000"/>
            <a:chExt cx="4953000" cy="3524250"/>
          </a:xfrm>
        </p:grpSpPr>
        <p:sp>
          <p:nvSpPr>
            <p:cNvPr id="8" name="Rectangle 8"/>
            <p:cNvSpPr/>
            <p:nvPr/>
          </p:nvSpPr>
          <p:spPr>
            <a:xfrm>
              <a:off x="609600" y="2286000"/>
              <a:ext cx="4953000" cy="3524250"/>
            </a:xfrm>
            <a:prstGeom prst="roundRect">
              <a:avLst>
                <a:gd name="adj" fmla="val 1081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2286000"/>
              <a:ext cx="4953000" cy="28575"/>
            </a:xfrm>
            <a:prstGeom prst="rect">
              <a:avLst/>
            </a:prstGeom>
            <a:solidFill>
              <a:srgbClr val="24406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6775" y="2524125"/>
              <a:ext cx="171450" cy="133350"/>
              <a:chOff x="866775" y="2524125"/>
              <a:chExt cx="171450" cy="1333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85825" y="2619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9DB2D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81075" y="26193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9DB2D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66775" y="252412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9050" y="114300"/>
                    </a:moveTo>
                    <a:lnTo>
                      <a:pt x="0" y="11430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  <a:lnTo>
                      <a:pt x="95250" y="114300"/>
                    </a:lnTo>
                    <a:moveTo>
                      <a:pt x="57150" y="114300"/>
                    </a:moveTo>
                    <a:lnTo>
                      <a:pt x="114300" y="114300"/>
                    </a:lnTo>
                    <a:moveTo>
                      <a:pt x="152400" y="114300"/>
                    </a:moveTo>
                    <a:lnTo>
                      <a:pt x="171450" y="114300"/>
                    </a:lnTo>
                    <a:lnTo>
                      <a:pt x="171450" y="57150"/>
                    </a:lnTo>
                    <a:lnTo>
                      <a:pt x="95250" y="57150"/>
                    </a:lnTo>
                    <a:moveTo>
                      <a:pt x="95250" y="9525"/>
                    </a:moveTo>
                    <a:lnTo>
                      <a:pt x="142875" y="9525"/>
                    </a:lnTo>
                    <a:lnTo>
                      <a:pt x="171450" y="57150"/>
                    </a:lnTo>
                  </a:path>
                </a:pathLst>
              </a:custGeom>
              <a:noFill/>
              <a:ln w="19050">
                <a:solidFill>
                  <a:srgbClr val="9DB2D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33856" y="2491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传统分销：五层链路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287655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rgbClr val="2440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5360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771650" y="287655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rgbClr val="2440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08810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省代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05100" y="287655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rgbClr val="2440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42260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市代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638550" y="2876550"/>
              <a:ext cx="6096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rgbClr val="2440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75710" y="2937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2876550"/>
              <a:ext cx="762000" cy="2857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rgbClr val="24406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04588" y="2937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" y="3429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10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渠道成本（层层加价）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818" y="3822382"/>
              <a:ext cx="871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15%–25%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7154" y="3604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信息延迟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4868" y="3822382"/>
              <a:ext cx="7154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7–15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137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研发周期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9818" y="4355782"/>
              <a:ext cx="4711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90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37154" y="4137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库存周转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34868" y="4355782"/>
              <a:ext cx="593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112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104" y="4671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渠道间数据未互通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9818" y="4889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45%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7154" y="4671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数据字段差异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134868" y="4889182"/>
              <a:ext cx="3832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65%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885825" y="5343525"/>
              <a:ext cx="95250" cy="95250"/>
              <a:chOff x="885825" y="5343525"/>
              <a:chExt cx="95250" cy="952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85825" y="5343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9525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5875">
                <a:solidFill>
                  <a:srgbClr val="9DB2D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85825" y="53435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95250"/>
                    </a:lnTo>
                  </a:path>
                </a:pathLst>
              </a:custGeom>
              <a:noFill/>
              <a:ln w="15875">
                <a:solidFill>
                  <a:srgbClr val="9DB2D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98042" y="53216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五层转手：层层加价，数据层层失真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629400" y="2286000"/>
            <a:ext cx="4953000" cy="3524250"/>
            <a:chOff x="6629400" y="2286000"/>
            <a:chExt cx="4953000" cy="3524250"/>
          </a:xfrm>
        </p:grpSpPr>
        <p:sp>
          <p:nvSpPr>
            <p:cNvPr id="43" name="Rectangle 43"/>
            <p:cNvSpPr/>
            <p:nvPr/>
          </p:nvSpPr>
          <p:spPr>
            <a:xfrm>
              <a:off x="6629400" y="2286000"/>
              <a:ext cx="4953000" cy="3524250"/>
            </a:xfrm>
            <a:prstGeom prst="roundRect">
              <a:avLst>
                <a:gd name="adj" fmla="val 1081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29400" y="2286000"/>
              <a:ext cx="4953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896100" y="2505075"/>
              <a:ext cx="152400" cy="171450"/>
              <a:chOff x="6896100" y="2505075"/>
              <a:chExt cx="152400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896100" y="2505075"/>
                <a:ext cx="1524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57150">
                    <a:moveTo>
                      <a:pt x="0" y="28575"/>
                    </a:moveTo>
                    <a:cubicBezTo>
                      <a:pt x="0" y="44357"/>
                      <a:pt x="34116" y="57150"/>
                      <a:pt x="76200" y="57150"/>
                    </a:cubicBezTo>
                    <a:cubicBezTo>
                      <a:pt x="118284" y="57150"/>
                      <a:pt x="152400" y="44357"/>
                      <a:pt x="152400" y="28575"/>
                    </a:cubicBezTo>
                    <a:cubicBezTo>
                      <a:pt x="152400" y="12793"/>
                      <a:pt x="118284" y="0"/>
                      <a:pt x="76200" y="0"/>
                    </a:cubicBezTo>
                    <a:cubicBezTo>
                      <a:pt x="34116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96100" y="253365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96100" y="2590800"/>
                <a:ext cx="1524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5725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72932"/>
                      <a:pt x="34116" y="85725"/>
                      <a:pt x="76200" y="85725"/>
                    </a:cubicBezTo>
                    <a:cubicBezTo>
                      <a:pt x="118284" y="85725"/>
                      <a:pt x="152400" y="72932"/>
                      <a:pt x="152400" y="571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7153656" y="24917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数据中台：两层直达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086600" y="2838450"/>
              <a:ext cx="9144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55205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382000" y="2838450"/>
              <a:ext cx="129540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glow rad="38100">
                <a:srgbClr val="000000">
                  <a:alpha val="30000"/>
                </a:srgbClr>
              </a:glow>
            </a:effectLst>
          </p:spPr>
        </p:sp>
        <p:sp>
          <p:nvSpPr>
            <p:cNvPr id="53" name="TextBox 53"/>
            <p:cNvSpPr txBox="1"/>
            <p:nvPr/>
          </p:nvSpPr>
          <p:spPr>
            <a:xfrm>
              <a:off x="8659368" y="2921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数据中台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058400" y="2838450"/>
              <a:ext cx="914400" cy="34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36136" y="29213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消费者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858000" y="3429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519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需求响应提升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48094" y="3847148"/>
              <a:ext cx="597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40%+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950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库存周转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91244" y="3847148"/>
              <a:ext cx="6919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&lt;30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1904" y="4366260"/>
              <a:ext cx="1027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DTC 上市周期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48094" y="4571048"/>
              <a:ext cx="547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68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95054" y="4366260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热词 · 加购 · 退货监测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92768" y="46034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实时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897687" y="5351462"/>
              <a:ext cx="119062" cy="79375"/>
            </a:xfrm>
            <a:custGeom>
              <a:avLst/>
              <a:gdLst/>
              <a:ahLst/>
              <a:cxnLst/>
              <a:rect l="l" t="t" r="r" b="b"/>
              <a:pathLst>
                <a:path w="119062" h="79375">
                  <a:moveTo>
                    <a:pt x="0" y="39687"/>
                  </a:moveTo>
                  <a:lnTo>
                    <a:pt x="39687" y="79375"/>
                  </a:lnTo>
                  <a:lnTo>
                    <a:pt x="119062" y="0"/>
                  </a:lnTo>
                </a:path>
              </a:pathLst>
            </a:custGeom>
            <a:noFill/>
            <a:ln w="15875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17842" y="53216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两层直达：成本直降，数据实时回流</a:t>
              </a:r>
            </a:p>
          </p:txBody>
        </p:sp>
      </p:grpSp>
      <p:sp>
        <p:nvSpPr>
          <p:cNvPr id="68" name="Freeform 68"/>
          <p:cNvSpPr/>
          <p:nvPr/>
        </p:nvSpPr>
        <p:spPr>
          <a:xfrm>
            <a:off x="1524000" y="2962275"/>
            <a:ext cx="171450" cy="114300"/>
          </a:xfrm>
          <a:prstGeom prst="rightArrow">
            <a:avLst/>
          </a:prstGeom>
          <a:solidFill>
            <a:srgbClr val="9DB2D6"/>
          </a:solidFill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2457450" y="2962275"/>
            <a:ext cx="171450" cy="114300"/>
          </a:xfrm>
          <a:prstGeom prst="rightArrow">
            <a:avLst/>
          </a:prstGeom>
          <a:solidFill>
            <a:srgbClr val="9DB2D6"/>
          </a:solidFill>
          <a:ln>
            <a:noFill/>
          </a:ln>
        </p:spPr>
      </p:sp>
      <p:sp>
        <p:nvSpPr>
          <p:cNvPr id="70" name="Freeform 70"/>
          <p:cNvSpPr/>
          <p:nvPr/>
        </p:nvSpPr>
        <p:spPr>
          <a:xfrm>
            <a:off x="3390900" y="2962275"/>
            <a:ext cx="171450" cy="114300"/>
          </a:xfrm>
          <a:prstGeom prst="rightArrow">
            <a:avLst/>
          </a:prstGeom>
          <a:solidFill>
            <a:srgbClr val="9DB2D6"/>
          </a:solidFill>
          <a:ln>
            <a:noFill/>
          </a:ln>
        </p:spPr>
      </p:sp>
      <p:sp>
        <p:nvSpPr>
          <p:cNvPr id="71" name="Freeform 71"/>
          <p:cNvSpPr/>
          <p:nvPr/>
        </p:nvSpPr>
        <p:spPr>
          <a:xfrm>
            <a:off x="4324350" y="2962275"/>
            <a:ext cx="171450" cy="114300"/>
          </a:xfrm>
          <a:prstGeom prst="rightArrow">
            <a:avLst/>
          </a:prstGeom>
          <a:solidFill>
            <a:srgbClr val="9DB2D6"/>
          </a:solidFill>
          <a:ln>
            <a:noFill/>
          </a:ln>
        </p:spPr>
      </p:sp>
      <p:sp>
        <p:nvSpPr>
          <p:cNvPr id="72" name="Freeform 72"/>
          <p:cNvSpPr/>
          <p:nvPr/>
        </p:nvSpPr>
        <p:spPr>
          <a:xfrm>
            <a:off x="8077200" y="2943225"/>
            <a:ext cx="228600" cy="1333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3" name="Freeform 73"/>
          <p:cNvSpPr/>
          <p:nvPr/>
        </p:nvSpPr>
        <p:spPr>
          <a:xfrm>
            <a:off x="9753600" y="2943225"/>
            <a:ext cx="228600" cy="133350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76" name="Group 76"/>
          <p:cNvGrpSpPr/>
          <p:nvPr/>
        </p:nvGrpSpPr>
        <p:grpSpPr>
          <a:xfrm>
            <a:off x="5829300" y="3781425"/>
            <a:ext cx="533400" cy="533400"/>
            <a:chOff x="5829300" y="3781425"/>
            <a:chExt cx="533400" cy="533400"/>
          </a:xfrm>
        </p:grpSpPr>
        <p:sp>
          <p:nvSpPr>
            <p:cNvPr id="74" name="Ellipse 74"/>
            <p:cNvSpPr/>
            <p:nvPr/>
          </p:nvSpPr>
          <p:spPr>
            <a:xfrm>
              <a:off x="5829300" y="3781425"/>
              <a:ext cx="533400" cy="5334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971032" y="395287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VS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389901" y="5997892"/>
            <a:ext cx="3412198" cy="264033"/>
            <a:chOff x="4389901" y="5997892"/>
            <a:chExt cx="3412198" cy="264033"/>
          </a:xfrm>
        </p:grpSpPr>
        <p:sp>
          <p:nvSpPr>
            <p:cNvPr id="77" name="TextBox 77"/>
            <p:cNvSpPr txBox="1"/>
            <p:nvPr/>
          </p:nvSpPr>
          <p:spPr>
            <a:xfrm>
              <a:off x="4389901" y="5997892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层级越少，数据越真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—— 模式重构由此起步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79" name="Line 79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0000" t="42000" r="70000" b="58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2404110"/>
            <a:ext cx="6892290" cy="1437513"/>
            <a:chOff x="590550" y="2404110"/>
            <a:chExt cx="6892290" cy="1437513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404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57150">
                      <a:srgbClr val="2E7CF6">
                        <a:alpha val="5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90700" y="240411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智足模式数据驱动升级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3143250"/>
              <a:ext cx="40005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3430905"/>
              <a:ext cx="34684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B2C 理念与 SaaS 数据链路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057775"/>
            <a:ext cx="10972800" cy="537400"/>
            <a:chOff x="609600" y="5057775"/>
            <a:chExt cx="10972800" cy="537400"/>
          </a:xfrm>
        </p:grpSpPr>
        <p:sp>
          <p:nvSpPr>
            <p:cNvPr id="9" name="Line 9"/>
            <p:cNvSpPr/>
            <p:nvPr/>
          </p:nvSpPr>
          <p:spPr>
            <a:xfrm>
              <a:off x="609600" y="5191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24406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5179219"/>
              <a:ext cx="4343400" cy="23812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2412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886325" y="51244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819650" y="5057775"/>
              <a:ext cx="266700" cy="2667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28662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66787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831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困局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644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56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269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21" name="Line 21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7670239" cy="955167"/>
            <a:chOff x="593598" y="749618"/>
            <a:chExt cx="7670239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02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智足模式数据驱动升级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76702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B2C 数据链路：从行为捕捉到敏捷闭环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7772400" cy="352044"/>
            <a:chOff x="600456" y="1748790"/>
            <a:chExt cx="7772400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四步链路把消费者行为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实时转化为生产指令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，末端反馈回流起点形成闭环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209800"/>
            <a:ext cx="10972800" cy="381000"/>
            <a:chOff x="609600" y="2209800"/>
            <a:chExt cx="10972800" cy="381000"/>
          </a:xfrm>
        </p:grpSpPr>
        <p:sp>
          <p:nvSpPr>
            <p:cNvPr id="8" name="Line 8"/>
            <p:cNvSpPr/>
            <p:nvPr/>
          </p:nvSpPr>
          <p:spPr>
            <a:xfrm>
              <a:off x="609600" y="2400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24406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33550" y="2209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17237" y="23117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514850" y="2209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98537" y="23117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96150" y="2209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79837" y="23117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077450" y="2209800"/>
              <a:ext cx="381000" cy="381000"/>
            </a:xfrm>
            <a:prstGeom prst="ellipse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61137" y="231171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effectLst>
                    <a:glow rad="47625">
                      <a:srgbClr val="2E7CF6">
                        <a:alpha val="4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762250"/>
            <a:ext cx="2628900" cy="2190750"/>
            <a:chOff x="609600" y="2762250"/>
            <a:chExt cx="26289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609600" y="2762250"/>
              <a:ext cx="2628900" cy="2190750"/>
            </a:xfrm>
            <a:prstGeom prst="roundRect">
              <a:avLst>
                <a:gd name="adj" fmla="val 1739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82650" y="2986088"/>
              <a:ext cx="177801" cy="200025"/>
              <a:chOff x="882650" y="2986088"/>
              <a:chExt cx="177801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82650" y="29860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82650" y="30194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82650" y="30861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29818" y="3250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全景数据采集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104" y="3623310"/>
              <a:ext cx="18409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多源数据探针毫秒级捕捉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前端行为，覆盖浏览轨迹、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停留时长等 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15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类异构数据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390900" y="2762250"/>
            <a:ext cx="2628900" cy="2190750"/>
            <a:chOff x="3390900" y="2762250"/>
            <a:chExt cx="2628900" cy="2190750"/>
          </a:xfrm>
        </p:grpSpPr>
        <p:sp>
          <p:nvSpPr>
            <p:cNvPr id="26" name="Rectangle 26"/>
            <p:cNvSpPr/>
            <p:nvPr/>
          </p:nvSpPr>
          <p:spPr>
            <a:xfrm>
              <a:off x="3390900" y="2762250"/>
              <a:ext cx="2628900" cy="2190750"/>
            </a:xfrm>
            <a:prstGeom prst="roundRect">
              <a:avLst>
                <a:gd name="adj" fmla="val 1739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663950" y="3019425"/>
              <a:ext cx="177801" cy="153988"/>
              <a:chOff x="3663950" y="3019425"/>
              <a:chExt cx="177801" cy="153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3663950" y="31638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663950" y="30194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611118" y="3250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天枢引擎处理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13404" y="3623310"/>
              <a:ext cx="18409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动态贝叶斯预测模型与时序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注意力机制，生成偏好宽表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构建高精度需求图谱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72200" y="2762250"/>
            <a:ext cx="2628900" cy="2190750"/>
            <a:chOff x="6172200" y="2762250"/>
            <a:chExt cx="2628900" cy="2190750"/>
          </a:xfrm>
        </p:grpSpPr>
        <p:sp>
          <p:nvSpPr>
            <p:cNvPr id="33" name="Rectangle 33"/>
            <p:cNvSpPr/>
            <p:nvPr/>
          </p:nvSpPr>
          <p:spPr>
            <a:xfrm>
              <a:off x="6172200" y="2762250"/>
              <a:ext cx="2628900" cy="2190750"/>
            </a:xfrm>
            <a:prstGeom prst="roundRect">
              <a:avLst>
                <a:gd name="adj" fmla="val 1739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41740" y="2997200"/>
              <a:ext cx="181311" cy="181310"/>
              <a:chOff x="6441740" y="2997200"/>
              <a:chExt cx="181311" cy="18131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45250" y="2997200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100013"/>
                    </a:moveTo>
                    <a:cubicBezTo>
                      <a:pt x="40785" y="104860"/>
                      <a:pt x="72941" y="137015"/>
                      <a:pt x="77788" y="177801"/>
                    </a:cubicBezTo>
                    <a:cubicBezTo>
                      <a:pt x="97758" y="166288"/>
                      <a:pt x="110364" y="145276"/>
                      <a:pt x="111125" y="122238"/>
                    </a:cubicBezTo>
                    <a:cubicBezTo>
                      <a:pt x="149283" y="108814"/>
                      <a:pt x="175598" y="73728"/>
                      <a:pt x="177801" y="33338"/>
                    </a:cubicBezTo>
                    <a:cubicBezTo>
                      <a:pt x="177801" y="14926"/>
                      <a:pt x="162875" y="0"/>
                      <a:pt x="144463" y="0"/>
                    </a:cubicBezTo>
                    <a:cubicBezTo>
                      <a:pt x="104073" y="2202"/>
                      <a:pt x="68986" y="28517"/>
                      <a:pt x="55563" y="66675"/>
                    </a:cubicBezTo>
                    <a:cubicBezTo>
                      <a:pt x="32524" y="67436"/>
                      <a:pt x="11513" y="80043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41740" y="3108325"/>
                <a:ext cx="70185" cy="70185"/>
              </a:xfrm>
              <a:custGeom>
                <a:avLst/>
                <a:gdLst/>
                <a:ahLst/>
                <a:cxnLst/>
                <a:rect l="l" t="t" r="r" b="b"/>
                <a:pathLst>
                  <a:path w="70185" h="70185">
                    <a:moveTo>
                      <a:pt x="36848" y="0"/>
                    </a:moveTo>
                    <a:cubicBezTo>
                      <a:pt x="13188" y="13357"/>
                      <a:pt x="0" y="39734"/>
                      <a:pt x="3510" y="66675"/>
                    </a:cubicBezTo>
                    <a:cubicBezTo>
                      <a:pt x="30452" y="70185"/>
                      <a:pt x="56828" y="56997"/>
                      <a:pt x="70185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56375" y="3041650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392418" y="3250882"/>
              <a:ext cx="15299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SaaS 实时推送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94704" y="3623310"/>
              <a:ext cx="19933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洞察指令无缝衔接厂商</a:t>
              </a:r>
              <a:br/>
              <a:r>
                <a:rPr lang="zh-CN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MES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zh-CN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PLM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端，差评率上升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触发预警，建议调整鞋楦参数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953500" y="2762250"/>
            <a:ext cx="2628900" cy="2190750"/>
            <a:chOff x="8953500" y="2762250"/>
            <a:chExt cx="2628900" cy="2190750"/>
          </a:xfrm>
        </p:grpSpPr>
        <p:sp>
          <p:nvSpPr>
            <p:cNvPr id="41" name="Rectangle 41"/>
            <p:cNvSpPr/>
            <p:nvPr/>
          </p:nvSpPr>
          <p:spPr>
            <a:xfrm>
              <a:off x="8953500" y="2762250"/>
              <a:ext cx="2628900" cy="2190750"/>
            </a:xfrm>
            <a:prstGeom prst="roundRect">
              <a:avLst>
                <a:gd name="adj" fmla="val 1739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26550" y="2992913"/>
              <a:ext cx="177801" cy="186375"/>
              <a:chOff x="9226550" y="2992913"/>
              <a:chExt cx="177801" cy="1863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226550" y="29929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26550" y="30972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173718" y="3250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敏捷闭环反馈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76004" y="3623310"/>
              <a:ext cx="1688592" cy="6918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线性流程重构为敏捷闭环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按需定制，下线产品精准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匹配需求，消除库存积压</a:t>
              </a:r>
            </a:p>
          </p:txBody>
        </p:sp>
      </p:grpSp>
      <p:sp>
        <p:nvSpPr>
          <p:cNvPr id="48" name="Freeform 48"/>
          <p:cNvSpPr/>
          <p:nvPr/>
        </p:nvSpPr>
        <p:spPr>
          <a:xfrm>
            <a:off x="1847850" y="5010150"/>
            <a:ext cx="152400" cy="133350"/>
          </a:xfrm>
          <a:prstGeom prst="upArrow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1" name="Group 51"/>
          <p:cNvGrpSpPr/>
          <p:nvPr/>
        </p:nvGrpSpPr>
        <p:grpSpPr>
          <a:xfrm>
            <a:off x="1924050" y="5086350"/>
            <a:ext cx="8343900" cy="248031"/>
            <a:chOff x="1924050" y="5086350"/>
            <a:chExt cx="8343900" cy="248031"/>
          </a:xfrm>
        </p:grpSpPr>
        <p:sp>
          <p:nvSpPr>
            <p:cNvPr id="49" name="Freeform 49"/>
            <p:cNvSpPr/>
            <p:nvPr/>
          </p:nvSpPr>
          <p:spPr>
            <a:xfrm>
              <a:off x="1924050" y="5086350"/>
              <a:ext cx="8343900" cy="209550"/>
            </a:xfrm>
            <a:custGeom>
              <a:avLst/>
              <a:gdLst/>
              <a:ahLst/>
              <a:cxnLst/>
              <a:rect l="l" t="t" r="r" b="b"/>
              <a:pathLst>
                <a:path w="8343900" h="209550">
                  <a:moveTo>
                    <a:pt x="8343900" y="0"/>
                  </a:moveTo>
                  <a:lnTo>
                    <a:pt x="8343900" y="209550"/>
                  </a:lnTo>
                  <a:lnTo>
                    <a:pt x="0" y="209550"/>
                  </a:ln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lgDashDot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61383" y="5099685"/>
              <a:ext cx="3469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敏捷闭环：第 04 步反馈数据回流第 01 步采集端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486400"/>
            <a:ext cx="10972800" cy="710184"/>
            <a:chOff x="609600" y="5486400"/>
            <a:chExt cx="10972800" cy="710184"/>
          </a:xfrm>
        </p:grpSpPr>
        <p:sp>
          <p:nvSpPr>
            <p:cNvPr id="52" name="Rectangle 52"/>
            <p:cNvSpPr/>
            <p:nvPr/>
          </p:nvSpPr>
          <p:spPr>
            <a:xfrm>
              <a:off x="609600" y="5486400"/>
              <a:ext cx="10972800" cy="685800"/>
            </a:xfrm>
            <a:prstGeom prst="roundRect">
              <a:avLst>
                <a:gd name="adj" fmla="val 5556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33528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60960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8839200" y="560070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490472" y="5604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日均数据处理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519733" y="5844540"/>
              <a:ext cx="922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2000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万条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14444" y="560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端到端延迟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15435" y="58445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&lt;300ms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34556" y="5604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数月级问题解决周期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39407" y="5844540"/>
              <a:ext cx="6563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48</a:t>
              </a: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小时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16212" y="56045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库存积压风险（零积压）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35019" y="58445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65" name="Line 65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7306633" cy="955167"/>
            <a:chOff x="593598" y="749618"/>
            <a:chExt cx="7306633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02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智足模式数据驱动升级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73066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“小单快反”精准匹配，全链路降本增效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5385587" cy="352044"/>
            <a:chOff x="600456" y="1748790"/>
            <a:chExt cx="5385587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5385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算法预测 + 柔性补单，在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五个维度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产生可量化收益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286000"/>
            <a:ext cx="5391150" cy="1714500"/>
            <a:chOff x="609600" y="2286000"/>
            <a:chExt cx="5391150" cy="1714500"/>
          </a:xfrm>
        </p:grpSpPr>
        <p:sp>
          <p:nvSpPr>
            <p:cNvPr id="8" name="Rectangle 8"/>
            <p:cNvSpPr/>
            <p:nvPr/>
          </p:nvSpPr>
          <p:spPr>
            <a:xfrm>
              <a:off x="609600" y="2286000"/>
              <a:ext cx="5391150" cy="1714500"/>
            </a:xfrm>
            <a:prstGeom prst="roundRect">
              <a:avLst>
                <a:gd name="adj" fmla="val 2222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59430" y="2463439"/>
              <a:ext cx="182275" cy="182291"/>
              <a:chOff x="859430" y="2463439"/>
              <a:chExt cx="182275" cy="18229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42975" y="25431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04875" y="25050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59430" y="246343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81075" y="24669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2500" y="25241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52906" y="24345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精准匹配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2966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预测周期提前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6008" y="3246120"/>
              <a:ext cx="11518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14–30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6604" y="2966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预测准确率较行业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0508" y="3246120"/>
              <a:ext cx="16970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+12.3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个百分点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61104" y="29660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库存积压率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5008" y="3246120"/>
              <a:ext cx="13352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4%</a:t>
              </a:r>
              <a:r>
                <a:rPr lang="zh-CN" sz="13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（原 18%）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91250" y="2286000"/>
            <a:ext cx="5391150" cy="1714500"/>
            <a:chOff x="6191250" y="2286000"/>
            <a:chExt cx="5391150" cy="1714500"/>
          </a:xfrm>
        </p:grpSpPr>
        <p:sp>
          <p:nvSpPr>
            <p:cNvPr id="23" name="Rectangle 23"/>
            <p:cNvSpPr/>
            <p:nvPr/>
          </p:nvSpPr>
          <p:spPr>
            <a:xfrm>
              <a:off x="6191250" y="2286000"/>
              <a:ext cx="5391150" cy="1714500"/>
            </a:xfrm>
            <a:prstGeom prst="roundRect">
              <a:avLst>
                <a:gd name="adj" fmla="val 2222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448425" y="2466971"/>
              <a:ext cx="171450" cy="180979"/>
              <a:chOff x="6448425" y="2466971"/>
              <a:chExt cx="171450" cy="18097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448425" y="2638425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67475" y="2524125"/>
                <a:ext cx="1333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14300">
                    <a:moveTo>
                      <a:pt x="0" y="114300"/>
                    </a:moveTo>
                    <a:lnTo>
                      <a:pt x="0" y="0"/>
                    </a:lnTo>
                    <a:lnTo>
                      <a:pt x="47625" y="38100"/>
                    </a:lnTo>
                    <a:lnTo>
                      <a:pt x="47625" y="0"/>
                    </a:lnTo>
                    <a:lnTo>
                      <a:pt x="95250" y="38100"/>
                    </a:lnTo>
                    <a:lnTo>
                      <a:pt x="133350" y="381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53200" y="2466971"/>
                <a:ext cx="47625" cy="17145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71454">
                    <a:moveTo>
                      <a:pt x="47625" y="171454"/>
                    </a:moveTo>
                    <a:lnTo>
                      <a:pt x="47625" y="95254"/>
                    </a:lnTo>
                    <a:lnTo>
                      <a:pt x="33947" y="4061"/>
                    </a:lnTo>
                    <a:cubicBezTo>
                      <a:pt x="33598" y="1727"/>
                      <a:pt x="31592" y="1"/>
                      <a:pt x="29232" y="4"/>
                    </a:cubicBezTo>
                    <a:lnTo>
                      <a:pt x="18326" y="4"/>
                    </a:lnTo>
                    <a:cubicBezTo>
                      <a:pt x="15995" y="0"/>
                      <a:pt x="14003" y="1685"/>
                      <a:pt x="13621" y="3985"/>
                    </a:cubicBezTo>
                    <a:lnTo>
                      <a:pt x="0" y="85729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05575" y="2600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53200" y="2600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734556" y="2434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生产与库存优化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13754" y="29660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首单生产量降低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07658" y="324612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40%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6404" y="29660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库存积压率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0308" y="3246120"/>
              <a:ext cx="5574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&lt;4%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9600" y="4191000"/>
            <a:ext cx="3524250" cy="1714500"/>
            <a:chOff x="609600" y="4191000"/>
            <a:chExt cx="3524250" cy="1714500"/>
          </a:xfrm>
        </p:grpSpPr>
        <p:sp>
          <p:nvSpPr>
            <p:cNvPr id="36" name="Rectangle 36"/>
            <p:cNvSpPr/>
            <p:nvPr/>
          </p:nvSpPr>
          <p:spPr>
            <a:xfrm>
              <a:off x="609600" y="4191000"/>
              <a:ext cx="3524250" cy="1714500"/>
            </a:xfrm>
            <a:prstGeom prst="roundRect">
              <a:avLst>
                <a:gd name="adj" fmla="val 2222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66775" y="4381500"/>
              <a:ext cx="171450" cy="161925"/>
              <a:chOff x="866775" y="4381500"/>
              <a:chExt cx="171450" cy="1619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6775" y="44577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81075" y="44196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3925" y="43815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6300" y="45339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153668" y="43557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营销与转化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104" y="49853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投放转化率提升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96285" y="492061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35%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53663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新品上市成功率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96285" y="530161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68%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333875" y="4191000"/>
            <a:ext cx="3524250" cy="1714500"/>
            <a:chOff x="4333875" y="4191000"/>
            <a:chExt cx="3524250" cy="1714500"/>
          </a:xfrm>
        </p:grpSpPr>
        <p:sp>
          <p:nvSpPr>
            <p:cNvPr id="48" name="Rectangle 48"/>
            <p:cNvSpPr/>
            <p:nvPr/>
          </p:nvSpPr>
          <p:spPr>
            <a:xfrm>
              <a:off x="4333875" y="4191000"/>
              <a:ext cx="3524250" cy="1714500"/>
            </a:xfrm>
            <a:prstGeom prst="roundRect">
              <a:avLst>
                <a:gd name="adj" fmla="val 2222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591050" y="4391025"/>
              <a:ext cx="171450" cy="133350"/>
              <a:chOff x="4591050" y="4391025"/>
              <a:chExt cx="171450" cy="1333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4610100" y="44862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705350" y="44862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91050" y="439102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9050" y="114300"/>
                    </a:moveTo>
                    <a:lnTo>
                      <a:pt x="0" y="114300"/>
                    </a:ln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95250" y="0"/>
                    </a:lnTo>
                    <a:lnTo>
                      <a:pt x="95250" y="114300"/>
                    </a:lnTo>
                    <a:moveTo>
                      <a:pt x="57150" y="114300"/>
                    </a:moveTo>
                    <a:lnTo>
                      <a:pt x="114300" y="114300"/>
                    </a:lnTo>
                    <a:moveTo>
                      <a:pt x="152400" y="114300"/>
                    </a:moveTo>
                    <a:lnTo>
                      <a:pt x="171450" y="114300"/>
                    </a:lnTo>
                    <a:lnTo>
                      <a:pt x="171450" y="57150"/>
                    </a:lnTo>
                    <a:lnTo>
                      <a:pt x="95250" y="57150"/>
                    </a:lnTo>
                    <a:moveTo>
                      <a:pt x="95250" y="9525"/>
                    </a:moveTo>
                    <a:lnTo>
                      <a:pt x="142875" y="9525"/>
                    </a:lnTo>
                    <a:lnTo>
                      <a:pt x="171450" y="571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4877943" y="43557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供应链成本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56379" y="48425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原材料浪费减少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20560" y="477774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20%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56379" y="517588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订单交付（原 25 天）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74677" y="5111115"/>
              <a:ext cx="363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</a:t>
              </a:r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56379" y="5509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供应链效率提升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87286" y="544449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&gt;70%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058150" y="4191000"/>
            <a:ext cx="3524250" cy="1714500"/>
            <a:chOff x="8058150" y="4191000"/>
            <a:chExt cx="3524250" cy="1714500"/>
          </a:xfrm>
        </p:grpSpPr>
        <p:sp>
          <p:nvSpPr>
            <p:cNvPr id="61" name="Rectangle 61"/>
            <p:cNvSpPr/>
            <p:nvPr/>
          </p:nvSpPr>
          <p:spPr>
            <a:xfrm>
              <a:off x="8058150" y="4191000"/>
              <a:ext cx="3524250" cy="1714500"/>
            </a:xfrm>
            <a:prstGeom prst="roundRect">
              <a:avLst>
                <a:gd name="adj" fmla="val 2222"/>
              </a:avLst>
            </a:prstGeom>
            <a:solidFill>
              <a:schemeClr val="accent5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315325" y="4370699"/>
              <a:ext cx="171450" cy="172726"/>
              <a:chOff x="8315325" y="4370699"/>
              <a:chExt cx="171450" cy="1727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372475" y="4448175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28575"/>
                    </a:moveTo>
                    <a:cubicBezTo>
                      <a:pt x="0" y="44358"/>
                      <a:pt x="25584" y="57150"/>
                      <a:pt x="57150" y="57150"/>
                    </a:cubicBezTo>
                    <a:cubicBezTo>
                      <a:pt x="88716" y="57150"/>
                      <a:pt x="114300" y="44358"/>
                      <a:pt x="114300" y="28575"/>
                    </a:cubicBezTo>
                    <a:cubicBezTo>
                      <a:pt x="114300" y="12792"/>
                      <a:pt x="88716" y="0"/>
                      <a:pt x="57150" y="0"/>
                    </a:cubicBezTo>
                    <a:cubicBezTo>
                      <a:pt x="25584" y="0"/>
                      <a:pt x="0" y="12792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72475" y="4476750"/>
                <a:ext cx="1143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6667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53873"/>
                      <a:pt x="25584" y="66675"/>
                      <a:pt x="57150" y="66675"/>
                    </a:cubicBezTo>
                    <a:cubicBezTo>
                      <a:pt x="88716" y="66675"/>
                      <a:pt x="114300" y="53873"/>
                      <a:pt x="114300" y="3810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315325" y="4370699"/>
                <a:ext cx="114300" cy="5970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9703">
                    <a:moveTo>
                      <a:pt x="0" y="29851"/>
                    </a:moveTo>
                    <a:cubicBezTo>
                      <a:pt x="0" y="40062"/>
                      <a:pt x="10897" y="49492"/>
                      <a:pt x="28575" y="54597"/>
                    </a:cubicBezTo>
                    <a:cubicBezTo>
                      <a:pt x="46253" y="59703"/>
                      <a:pt x="68047" y="59703"/>
                      <a:pt x="85725" y="54597"/>
                    </a:cubicBezTo>
                    <a:cubicBezTo>
                      <a:pt x="103403" y="49492"/>
                      <a:pt x="114300" y="40062"/>
                      <a:pt x="114300" y="29851"/>
                    </a:cubicBezTo>
                    <a:cubicBezTo>
                      <a:pt x="114300" y="19641"/>
                      <a:pt x="103403" y="10211"/>
                      <a:pt x="85725" y="5105"/>
                    </a:cubicBezTo>
                    <a:cubicBezTo>
                      <a:pt x="68047" y="0"/>
                      <a:pt x="46253" y="0"/>
                      <a:pt x="28575" y="5105"/>
                    </a:cubicBezTo>
                    <a:cubicBezTo>
                      <a:pt x="10897" y="10211"/>
                      <a:pt x="0" y="19641"/>
                      <a:pt x="0" y="29851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15325" y="4400550"/>
                <a:ext cx="190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14300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03708"/>
                      <a:pt x="7353" y="109061"/>
                      <a:pt x="19050" y="1143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15325" y="44481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0"/>
                    </a:moveTo>
                    <a:cubicBezTo>
                      <a:pt x="0" y="8458"/>
                      <a:pt x="7353" y="13811"/>
                      <a:pt x="1905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602218" y="4355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财务效益闭环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80654" y="48425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库存周转缩短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65678" y="4777740"/>
              <a:ext cx="497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42</a:t>
              </a:r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天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80654" y="51758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资金占用下降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944835" y="511111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30%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80654" y="55092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毛利率提升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811561" y="544449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5–8%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76" name="Line 76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0000" t="42000" r="70000" b="58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2404110"/>
            <a:ext cx="6892290" cy="1437513"/>
            <a:chOff x="590550" y="2404110"/>
            <a:chExt cx="6892290" cy="1437513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404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57150">
                      <a:srgbClr val="2E7CF6">
                        <a:alpha val="5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90700" y="240411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核心壁垒独家数据优势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3143250"/>
              <a:ext cx="40005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34309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渠道数据独占突显专业度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057775"/>
            <a:ext cx="10972800" cy="537400"/>
            <a:chOff x="609600" y="5057775"/>
            <a:chExt cx="10972800" cy="537400"/>
          </a:xfrm>
        </p:grpSpPr>
        <p:sp>
          <p:nvSpPr>
            <p:cNvPr id="9" name="Line 9"/>
            <p:cNvSpPr/>
            <p:nvPr/>
          </p:nvSpPr>
          <p:spPr>
            <a:xfrm>
              <a:off x="609600" y="5191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24406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5179219"/>
              <a:ext cx="6724650" cy="23812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2412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90537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267575" y="51244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200900" y="5057775"/>
              <a:ext cx="266700" cy="2667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9667875" y="5143500"/>
              <a:ext cx="95250" cy="9525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831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困局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456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壁垒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44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269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实证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21" name="Line 21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5968746" cy="955167"/>
            <a:chOff x="593598" y="749618"/>
            <a:chExt cx="5968746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03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核心壁垒独家数据优势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独家数据源：难以复制的护城河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6560820" cy="352044"/>
            <a:chOff x="600456" y="1748790"/>
            <a:chExt cx="6560820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独占特定渠道的用户行为数据，构建对手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无法复制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的战略资源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2286000"/>
            <a:ext cx="5867400" cy="1143000"/>
            <a:chOff x="609600" y="2286000"/>
            <a:chExt cx="5867400" cy="1143000"/>
          </a:xfrm>
        </p:grpSpPr>
        <p:sp>
          <p:nvSpPr>
            <p:cNvPr id="8" name="Rectangle 8"/>
            <p:cNvSpPr/>
            <p:nvPr/>
          </p:nvSpPr>
          <p:spPr>
            <a:xfrm>
              <a:off x="609600" y="2286000"/>
              <a:ext cx="5867400" cy="1143000"/>
            </a:xfrm>
            <a:prstGeom prst="roundRect">
              <a:avLst>
                <a:gd name="adj" fmla="val 3333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4400" y="2578100"/>
              <a:ext cx="228599" cy="177800"/>
              <a:chOff x="914400" y="2578100"/>
              <a:chExt cx="228599" cy="177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39800" y="2705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66800" y="27051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4400" y="25781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5400" y="152400"/>
                    </a:moveTo>
                    <a:lnTo>
                      <a:pt x="0" y="1524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27000" y="0"/>
                    </a:lnTo>
                    <a:lnTo>
                      <a:pt x="127000" y="152400"/>
                    </a:lnTo>
                    <a:moveTo>
                      <a:pt x="76200" y="152400"/>
                    </a:moveTo>
                    <a:lnTo>
                      <a:pt x="152400" y="152400"/>
                    </a:lnTo>
                    <a:moveTo>
                      <a:pt x="203199" y="152400"/>
                    </a:moveTo>
                    <a:lnTo>
                      <a:pt x="228599" y="152400"/>
                    </a:lnTo>
                    <a:lnTo>
                      <a:pt x="228599" y="76200"/>
                    </a:lnTo>
                    <a:lnTo>
                      <a:pt x="127000" y="76200"/>
                    </a:lnTo>
                    <a:moveTo>
                      <a:pt x="127000" y="12700"/>
                    </a:moveTo>
                    <a:lnTo>
                      <a:pt x="190500" y="12700"/>
                    </a:lnTo>
                    <a:lnTo>
                      <a:pt x="228599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25118" y="2603182"/>
              <a:ext cx="21397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01 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头部电商 + 物流商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6642" y="299751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整合多方平台，覆盖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超五千万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活跃用户轨迹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619500"/>
            <a:ext cx="5867400" cy="1143000"/>
            <a:chOff x="609600" y="3619500"/>
            <a:chExt cx="58674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609600" y="3619500"/>
              <a:ext cx="5867400" cy="1143000"/>
            </a:xfrm>
            <a:prstGeom prst="roundRect">
              <a:avLst>
                <a:gd name="adj" fmla="val 3333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14400" y="3924300"/>
              <a:ext cx="228600" cy="152400"/>
              <a:chOff x="914400" y="3924300"/>
              <a:chExt cx="228600" cy="152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066800" y="394422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14400" y="3924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25118" y="3936682"/>
              <a:ext cx="20936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02 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直播互动情感数据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6642" y="43310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独占直播互动数据，实时互动、情感捕捉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4953000"/>
            <a:ext cx="5867400" cy="1143000"/>
            <a:chOff x="609600" y="4953000"/>
            <a:chExt cx="58674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609600" y="4953000"/>
              <a:ext cx="5867400" cy="1143000"/>
            </a:xfrm>
            <a:prstGeom prst="roundRect">
              <a:avLst>
                <a:gd name="adj" fmla="val 3333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14400" y="5232400"/>
              <a:ext cx="228599" cy="215899"/>
              <a:chOff x="914400" y="5232400"/>
              <a:chExt cx="228599" cy="21589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77900" y="52959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77900" y="5346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14400" y="52324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76200" y="177800"/>
                    </a:move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52400" y="177800"/>
                    </a:lnTo>
                    <a:lnTo>
                      <a:pt x="114300" y="215899"/>
                    </a:lnTo>
                    <a:lnTo>
                      <a:pt x="76200" y="177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325118" y="5270182"/>
              <a:ext cx="22792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 xml:space="preserve">03 </a:t>
              </a:r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售后 NLP 深度分析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6642" y="56645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分析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百万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退换货评论，精准识别产品缺陷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81800" y="2286000"/>
            <a:ext cx="4800600" cy="3810000"/>
            <a:chOff x="6781800" y="2286000"/>
            <a:chExt cx="4800600" cy="3810000"/>
          </a:xfrm>
        </p:grpSpPr>
        <p:sp>
          <p:nvSpPr>
            <p:cNvPr id="31" name="Rectangle 31"/>
            <p:cNvSpPr/>
            <p:nvPr/>
          </p:nvSpPr>
          <p:spPr>
            <a:xfrm>
              <a:off x="6781800" y="2286000"/>
              <a:ext cx="4800600" cy="3810000"/>
            </a:xfrm>
            <a:prstGeom prst="roundRect">
              <a:avLst>
                <a:gd name="adj" fmla="val 1000"/>
              </a:avLst>
            </a:prstGeom>
            <a:solidFill>
              <a:schemeClr val="accent5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81800" y="2286000"/>
              <a:ext cx="48006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72680" y="265176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数据实证 · 独家数据源训练 vs 公开数据模型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63496" y="3286125"/>
              <a:ext cx="203720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chemeClr val="accent2"/>
                  </a:solidFill>
                  <a:effectLst>
                    <a:glow rad="76200">
                      <a:srgbClr val="2FD4A7">
                        <a:alpha val="50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+18.5%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63865" y="40290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预测爆款潜力准确率提升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086600" y="45529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102321" y="4905375"/>
              <a:ext cx="186006" cy="171450"/>
              <a:chOff x="7102321" y="4905375"/>
              <a:chExt cx="186006" cy="1714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102321" y="4905375"/>
                <a:ext cx="186006" cy="169983"/>
              </a:xfrm>
              <a:custGeom>
                <a:avLst/>
                <a:gdLst/>
                <a:ahLst/>
                <a:cxnLst/>
                <a:rect l="l" t="t" r="r" b="b"/>
                <a:pathLst>
                  <a:path w="186006" h="169983">
                    <a:moveTo>
                      <a:pt x="93436" y="169983"/>
                    </a:moveTo>
                    <a:cubicBezTo>
                      <a:pt x="33766" y="151487"/>
                      <a:pt x="0" y="88510"/>
                      <a:pt x="17617" y="28575"/>
                    </a:cubicBezTo>
                    <a:cubicBezTo>
                      <a:pt x="47292" y="29933"/>
                      <a:pt x="76331" y="19684"/>
                      <a:pt x="98579" y="0"/>
                    </a:cubicBezTo>
                    <a:cubicBezTo>
                      <a:pt x="120828" y="19684"/>
                      <a:pt x="149867" y="29933"/>
                      <a:pt x="179542" y="28575"/>
                    </a:cubicBezTo>
                    <a:cubicBezTo>
                      <a:pt x="186006" y="50569"/>
                      <a:pt x="185708" y="73999"/>
                      <a:pt x="178685" y="95821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29475" y="50387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460742" y="4902518"/>
              <a:ext cx="224256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数据独占构建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高门槛壁垒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智足成为不可或缺的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信息枢纽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42" name="Line 42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5120640" cy="955167"/>
            <a:chOff x="593598" y="749618"/>
            <a:chExt cx="5120640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03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核心壁垒独家数据优势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三维竞品对比：全方位领先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6803136" cy="352044"/>
            <a:chOff x="600456" y="1748790"/>
            <a:chExt cx="6803136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数据维度、响应速度、服务深度三维全面领先，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不可替代性凸显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2286000"/>
            <a:ext cx="10982325" cy="3400425"/>
            <a:chOff x="609600" y="2286000"/>
            <a:chExt cx="10982325" cy="3400425"/>
          </a:xfrm>
        </p:grpSpPr>
        <p:sp>
          <p:nvSpPr>
            <p:cNvPr id="8" name="Rectangle 8"/>
            <p:cNvSpPr/>
            <p:nvPr/>
          </p:nvSpPr>
          <p:spPr>
            <a:xfrm>
              <a:off x="609600" y="2286000"/>
              <a:ext cx="10972800" cy="533400"/>
            </a:xfrm>
            <a:prstGeom prst="rect">
              <a:avLst/>
            </a:prstGeom>
            <a:solidFill>
              <a:srgbClr val="1B356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2819400"/>
              <a:ext cx="2286000" cy="285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895600" y="2819400"/>
              <a:ext cx="3238500" cy="28575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134100" y="2819400"/>
              <a:ext cx="2705100" cy="285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839200" y="2819400"/>
              <a:ext cx="2743200" cy="2857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09600" y="2286000"/>
              <a:ext cx="10982325" cy="3400425"/>
              <a:chOff x="609600" y="2286000"/>
              <a:chExt cx="10982325" cy="340042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609600" y="2286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2895600" y="2286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6134100" y="2286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839200" y="2286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1582400" y="2286000"/>
                <a:ext cx="9525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90900">
                    <a:moveTo>
                      <a:pt x="0" y="0"/>
                    </a:moveTo>
                    <a:lnTo>
                      <a:pt x="0" y="339090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09600" y="2286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609600" y="2819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609600" y="3771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609600" y="47244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09600" y="5676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24406B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2914650" y="2305050"/>
              <a:ext cx="3200400" cy="33528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31342" y="2473642"/>
              <a:ext cx="9749790" cy="264033"/>
              <a:chOff x="831342" y="2473642"/>
              <a:chExt cx="9749790" cy="26403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31342" y="24736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评价判据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144518" y="24736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智足科技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091183" y="2473642"/>
                <a:ext cx="7909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通用 ERP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840468" y="24736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传统咨询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30580" y="3190875"/>
              <a:ext cx="822960" cy="2198370"/>
              <a:chOff x="830580" y="3190875"/>
              <a:chExt cx="822960" cy="21983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30580" y="31908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数据维度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0580" y="41433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响应速度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0580" y="509587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服务深度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167634" y="3108960"/>
              <a:ext cx="8180070" cy="2387346"/>
              <a:chOff x="3167634" y="3108960"/>
              <a:chExt cx="8180070" cy="2387346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3270504" y="3108960"/>
                <a:ext cx="24886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内外部数据实时打通，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精确到单个 SKU 实时动销与用户反馈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88202" y="3223260"/>
                <a:ext cx="25968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局限于内部数据，缺乏外部实时输入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073896" y="322326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静态历史抽样，季度或年度更新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544824" y="4061460"/>
                <a:ext cx="194005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分钟级——云原生+流式计算，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“天级”压缩至“分钟级”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062368" y="4175760"/>
                <a:ext cx="8485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T+1 至 T+7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81616" y="41757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长达数周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167634" y="5013960"/>
                <a:ext cx="269443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SaaS 工具+数据咨询+运营陪跑一站式，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嵌入生产排程与营销策划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30518" y="51282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标准模块，缺乏鞋业深度定制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39300" y="51282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止步于报告交付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638175" y="5912168"/>
            <a:ext cx="6566510" cy="264033"/>
            <a:chOff x="638175" y="5912168"/>
            <a:chExt cx="6566510" cy="264033"/>
          </a:xfrm>
        </p:grpSpPr>
        <p:grpSp>
          <p:nvGrpSpPr>
            <p:cNvPr id="51" name="Group 51"/>
            <p:cNvGrpSpPr/>
            <p:nvPr/>
          </p:nvGrpSpPr>
          <p:grpSpPr>
            <a:xfrm>
              <a:off x="638175" y="5924550"/>
              <a:ext cx="171450" cy="171450"/>
              <a:chOff x="638175" y="5924550"/>
              <a:chExt cx="171450" cy="17145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85800" y="608647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3900" y="60483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76275" y="59245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6275" y="5924550"/>
                <a:ext cx="952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3825">
                    <a:moveTo>
                      <a:pt x="95250" y="0"/>
                    </a:moveTo>
                    <a:lnTo>
                      <a:pt x="95250" y="76200"/>
                    </a:lnTo>
                    <a:cubicBezTo>
                      <a:pt x="95250" y="102503"/>
                      <a:pt x="73928" y="123825"/>
                      <a:pt x="47625" y="123825"/>
                    </a:cubicBezTo>
                    <a:cubicBezTo>
                      <a:pt x="21322" y="123825"/>
                      <a:pt x="0" y="102503"/>
                      <a:pt x="0" y="762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38175" y="59531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1525" y="595312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983742" y="5912168"/>
              <a:ext cx="6220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综合结论：满足中小鞋企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“小而美、快而准”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转型需求的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唯一精准解决方案伙伴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54" name="Line 54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30000" t="42000" r="70000" b="58000"/>
            </a:path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2404110"/>
            <a:ext cx="6892290" cy="1437513"/>
            <a:chOff x="590550" y="2404110"/>
            <a:chExt cx="6892290" cy="1437513"/>
          </a:xfrm>
        </p:grpSpPr>
        <p:sp>
          <p:nvSpPr>
            <p:cNvPr id="4" name="TextBox 4"/>
            <p:cNvSpPr txBox="1"/>
            <p:nvPr/>
          </p:nvSpPr>
          <p:spPr>
            <a:xfrm>
              <a:off x="590550" y="2404110"/>
              <a:ext cx="6911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effectLst>
                    <a:glow rad="57150">
                      <a:srgbClr val="2E7CF6">
                        <a:alpha val="50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90700" y="240411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实证复盘标杆案例价值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3143250"/>
              <a:ext cx="40005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8932" y="343090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拆解案例指标，总结复制价值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5057775"/>
            <a:ext cx="10972800" cy="537400"/>
            <a:chOff x="609600" y="5057775"/>
            <a:chExt cx="10972800" cy="537400"/>
          </a:xfrm>
        </p:grpSpPr>
        <p:sp>
          <p:nvSpPr>
            <p:cNvPr id="9" name="Line 9"/>
            <p:cNvSpPr/>
            <p:nvPr/>
          </p:nvSpPr>
          <p:spPr>
            <a:xfrm>
              <a:off x="609600" y="5191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24406B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5179219"/>
              <a:ext cx="9105900" cy="23812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2412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90537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286625" y="51435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648825" y="51244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582150" y="5057775"/>
              <a:ext cx="266700" cy="2667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831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困局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269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565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64405" y="5331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21" name="Line 21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3598" y="749618"/>
            <a:ext cx="6347213" cy="955167"/>
            <a:chOff x="593598" y="749618"/>
            <a:chExt cx="6347213" cy="95516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04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实证复盘标杆案例价值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88708"/>
              <a:ext cx="63472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关键指标改造对比：6 个月的改变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0456" y="1748790"/>
            <a:ext cx="7840854" cy="352044"/>
            <a:chOff x="600456" y="1748790"/>
            <a:chExt cx="7840854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00456" y="1748790"/>
              <a:ext cx="7840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六个月改造，库存周转 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145 天降至 68 天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（降幅 53%），全指标显著改善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2742" y="2270760"/>
            <a:ext cx="10409171" cy="2857691"/>
            <a:chOff x="602742" y="2270760"/>
            <a:chExt cx="10409171" cy="2857691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2270760"/>
              <a:ext cx="7968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对比框架：接入前（2024 年）vs 接入后（2025 年底）· 6 个月改造 · 案例企业常年受困于库存高企与产销脱节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8201025" y="2305050"/>
              <a:ext cx="95250" cy="952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9DB2D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5904" y="2270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接入前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020175" y="23050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95054" y="22707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接入后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602742" y="2428875"/>
              <a:ext cx="10409171" cy="2699576"/>
              <a:chOff x="602742" y="2428875"/>
              <a:chExt cx="10409171" cy="2699576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4095750" y="28194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6686550" y="2819400"/>
                <a:ext cx="2933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33700" h="9525">
                    <a:moveTo>
                      <a:pt x="0" y="0"/>
                    </a:moveTo>
                    <a:lnTo>
                      <a:pt x="2933700" y="0"/>
                    </a:lnTo>
                  </a:path>
                </a:pathLst>
              </a:custGeom>
              <a:noFill/>
              <a:ln w="28575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02742" y="27308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库存周转天数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29546" y="2428875"/>
                <a:ext cx="5140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68 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75877" y="2461260"/>
                <a:ext cx="488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145 天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6600825" y="273367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glow rad="57150">
                  <a:srgbClr val="2FD4A7">
                    <a:alpha val="50000"/>
                  </a:srgbClr>
                </a:glow>
              </a:effectLst>
            </p:spPr>
          </p:sp>
          <p:sp>
            <p:nvSpPr>
              <p:cNvPr id="19" name="Ellipse 19"/>
              <p:cNvSpPr/>
              <p:nvPr/>
            </p:nvSpPr>
            <p:spPr>
              <a:xfrm>
                <a:off x="9563100" y="27622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DB2D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895332" y="2668905"/>
                <a:ext cx="79876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↓ 53%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095750" y="33528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6305550" y="335280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28575">
                <a:solidFill>
                  <a:schemeClr val="accent2">
                    <a:alpha val="55000"/>
                  </a:schemeClr>
                </a:solidFill>
                <a:custDash>
                  <a:ds d="200000" sp="133333"/>
                </a:custDash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2742" y="32642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季末滞销库存占比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64726" y="2994660"/>
                <a:ext cx="3110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32%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248400" y="329565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9563100" y="32956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DB2D6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899142" y="32642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显著下降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4095750" y="38862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7200900" y="38862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28575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02742" y="37976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新品售罄率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045376" y="3528060"/>
                <a:ext cx="3110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45%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323904" y="3528060"/>
                <a:ext cx="325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78%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143750" y="38290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DB2D6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9429750" y="38290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899142" y="3797618"/>
                <a:ext cx="1112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+33 个百分点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4095750" y="44196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5753100" y="4419600"/>
                <a:ext cx="3495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95675" h="9525">
                    <a:moveTo>
                      <a:pt x="0" y="0"/>
                    </a:moveTo>
                    <a:lnTo>
                      <a:pt x="3495675" y="0"/>
                    </a:lnTo>
                  </a:path>
                </a:pathLst>
              </a:custGeom>
              <a:noFill/>
              <a:ln w="28575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02742" y="43310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订单交付周期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594143" y="4061460"/>
                <a:ext cx="31791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 天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048826" y="4061460"/>
                <a:ext cx="3998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28 天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5695950" y="43624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191625" y="4362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DB2D6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899142" y="4331018"/>
                <a:ext cx="8833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缩短 19 天</a:t>
                </a:r>
              </a:p>
            </p:txBody>
          </p:sp>
          <p:sp>
            <p:nvSpPr>
              <p:cNvPr id="44" name="Line 44"/>
              <p:cNvSpPr/>
              <p:nvPr/>
            </p:nvSpPr>
            <p:spPr>
              <a:xfrm>
                <a:off x="4095750" y="4953000"/>
                <a:ext cx="552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0" h="9525">
                    <a:moveTo>
                      <a:pt x="0" y="0"/>
                    </a:moveTo>
                    <a:lnTo>
                      <a:pt x="5524500" y="0"/>
                    </a:lnTo>
                  </a:path>
                </a:pathLst>
              </a:custGeom>
              <a:noFill/>
              <a:ln w="9525">
                <a:solidFill>
                  <a:srgbClr val="1B3560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8734425" y="4953000"/>
                <a:ext cx="66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" h="9525">
                    <a:moveTo>
                      <a:pt x="0" y="0"/>
                    </a:moveTo>
                    <a:lnTo>
                      <a:pt x="666750" y="0"/>
                    </a:lnTo>
                  </a:path>
                </a:pathLst>
              </a:custGeom>
              <a:noFill/>
              <a:ln w="28575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02742" y="48644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客户满意度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595055" y="459486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4.2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255142" y="4594860"/>
                <a:ext cx="2920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4.8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8677275" y="48958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DB2D6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9344025" y="4895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99142" y="4864418"/>
                <a:ext cx="6725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+0.6 分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609600" y="5486400"/>
            <a:ext cx="5391150" cy="781812"/>
            <a:chOff x="609600" y="5486400"/>
            <a:chExt cx="5391150" cy="781812"/>
          </a:xfrm>
        </p:grpSpPr>
        <p:sp>
          <p:nvSpPr>
            <p:cNvPr id="54" name="Rectangle 54"/>
            <p:cNvSpPr/>
            <p:nvPr/>
          </p:nvSpPr>
          <p:spPr>
            <a:xfrm>
              <a:off x="609600" y="5486400"/>
              <a:ext cx="5391150" cy="685800"/>
            </a:xfrm>
            <a:prstGeom prst="roundRect">
              <a:avLst>
                <a:gd name="adj" fmla="val 5556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71538" y="5727799"/>
              <a:ext cx="200025" cy="201514"/>
              <a:chOff x="871538" y="5727799"/>
              <a:chExt cx="200025" cy="201514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938213" y="58181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33338"/>
                    </a:moveTo>
                    <a:cubicBezTo>
                      <a:pt x="0" y="51751"/>
                      <a:pt x="29848" y="66675"/>
                      <a:pt x="66675" y="66675"/>
                    </a:cubicBezTo>
                    <a:cubicBezTo>
                      <a:pt x="103502" y="66675"/>
                      <a:pt x="133350" y="51751"/>
                      <a:pt x="133350" y="33338"/>
                    </a:cubicBezTo>
                    <a:cubicBezTo>
                      <a:pt x="133350" y="14924"/>
                      <a:pt x="103502" y="0"/>
                      <a:pt x="66675" y="0"/>
                    </a:cubicBezTo>
                    <a:cubicBezTo>
                      <a:pt x="29848" y="0"/>
                      <a:pt x="0" y="14924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8213" y="5851525"/>
                <a:ext cx="1333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7788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62852"/>
                      <a:pt x="29848" y="77788"/>
                      <a:pt x="66675" y="77788"/>
                    </a:cubicBezTo>
                    <a:cubicBezTo>
                      <a:pt x="103502" y="77788"/>
                      <a:pt x="133350" y="62852"/>
                      <a:pt x="133350" y="4445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5727799"/>
                <a:ext cx="133350" cy="6965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9653">
                    <a:moveTo>
                      <a:pt x="0" y="34827"/>
                    </a:moveTo>
                    <a:cubicBezTo>
                      <a:pt x="0" y="46739"/>
                      <a:pt x="12713" y="57741"/>
                      <a:pt x="33338" y="63697"/>
                    </a:cubicBezTo>
                    <a:cubicBezTo>
                      <a:pt x="53962" y="69653"/>
                      <a:pt x="79388" y="69653"/>
                      <a:pt x="100013" y="63697"/>
                    </a:cubicBezTo>
                    <a:cubicBezTo>
                      <a:pt x="120638" y="57741"/>
                      <a:pt x="133350" y="46739"/>
                      <a:pt x="133350" y="34827"/>
                    </a:cubicBezTo>
                    <a:cubicBezTo>
                      <a:pt x="133350" y="22914"/>
                      <a:pt x="120638" y="11913"/>
                      <a:pt x="100013" y="5956"/>
                    </a:cubicBezTo>
                    <a:cubicBezTo>
                      <a:pt x="79388" y="0"/>
                      <a:pt x="53962" y="0"/>
                      <a:pt x="33338" y="5956"/>
                    </a:cubicBezTo>
                    <a:cubicBezTo>
                      <a:pt x="12713" y="11913"/>
                      <a:pt x="0" y="22914"/>
                      <a:pt x="0" y="34827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5762625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0993"/>
                      <a:pt x="8579" y="127238"/>
                      <a:pt x="22225" y="1333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1538" y="58181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0"/>
                    </a:moveTo>
                    <a:cubicBezTo>
                      <a:pt x="0" y="9868"/>
                      <a:pt x="8579" y="16113"/>
                      <a:pt x="22225" y="22225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251204" y="5604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资金占用成本减少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45108" y="5798820"/>
              <a:ext cx="10249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450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万元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191250" y="5486400"/>
            <a:ext cx="5391150" cy="781812"/>
            <a:chOff x="6191250" y="5486400"/>
            <a:chExt cx="5391150" cy="781812"/>
          </a:xfrm>
        </p:grpSpPr>
        <p:sp>
          <p:nvSpPr>
            <p:cNvPr id="64" name="Rectangle 64"/>
            <p:cNvSpPr/>
            <p:nvPr/>
          </p:nvSpPr>
          <p:spPr>
            <a:xfrm>
              <a:off x="6191250" y="5486400"/>
              <a:ext cx="5391150" cy="685800"/>
            </a:xfrm>
            <a:prstGeom prst="roundRect">
              <a:avLst>
                <a:gd name="adj" fmla="val 5556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453188" y="5773738"/>
              <a:ext cx="200026" cy="111125"/>
              <a:chOff x="6453188" y="5773738"/>
              <a:chExt cx="200026" cy="1111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6453188" y="5773738"/>
                <a:ext cx="20002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11125">
                    <a:moveTo>
                      <a:pt x="0" y="111125"/>
                    </a:moveTo>
                    <a:lnTo>
                      <a:pt x="66675" y="44450"/>
                    </a:lnTo>
                    <a:lnTo>
                      <a:pt x="111125" y="88900"/>
                    </a:lnTo>
                    <a:lnTo>
                      <a:pt x="200026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575425" y="5773738"/>
                <a:ext cx="77788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7788">
                    <a:moveTo>
                      <a:pt x="0" y="0"/>
                    </a:moveTo>
                    <a:lnTo>
                      <a:pt x="77788" y="0"/>
                    </a:lnTo>
                    <a:lnTo>
                      <a:pt x="77788" y="77788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832854" y="5604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毛利率提升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26758" y="5798820"/>
              <a:ext cx="14288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6.5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个百分点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71" name="Line 71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81" name="TextBox 81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50000" t="40000" r="50000" b="60000"/>
            </a:path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3598" y="749618"/>
            <a:ext cx="4272534" cy="955167"/>
            <a:chOff x="593598" y="749618"/>
            <a:chExt cx="4272534" cy="955167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749618"/>
              <a:ext cx="2779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PART 04</a:t>
              </a: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 xml:space="preserve"> · 实证复盘标杆案例价值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10887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新质生产力的生动样本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1600200"/>
              <a:ext cx="1524000" cy="2857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8932" y="1906905"/>
            <a:ext cx="7222236" cy="791718"/>
            <a:chOff x="598932" y="1906905"/>
            <a:chExt cx="7222236" cy="791718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906905"/>
              <a:ext cx="7222236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深度融合</a:t>
              </a:r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“数据+算法+场景”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，实现全要素生产率大幅提升</a:t>
              </a:r>
              <a:br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不仅是商业胜利，更是传统制造业培育</a:t>
              </a:r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新质生产力的生动样本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3143250"/>
            <a:ext cx="3505200" cy="2286000"/>
            <a:chOff x="609600" y="3143250"/>
            <a:chExt cx="3505200" cy="2286000"/>
          </a:xfrm>
        </p:grpSpPr>
        <p:sp>
          <p:nvSpPr>
            <p:cNvPr id="9" name="Rectangle 9"/>
            <p:cNvSpPr/>
            <p:nvPr/>
          </p:nvSpPr>
          <p:spPr>
            <a:xfrm>
              <a:off x="609600" y="3143250"/>
              <a:ext cx="3505200" cy="2286000"/>
            </a:xfrm>
            <a:prstGeom prst="roundRect">
              <a:avLst>
                <a:gd name="adj" fmla="val 1667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243387" y="3543300"/>
              <a:ext cx="233113" cy="233113"/>
              <a:chOff x="2243387" y="3543300"/>
              <a:chExt cx="233113" cy="23311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247900" y="3543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43387" y="368617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390775" y="360045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909572" y="4127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逻辑变革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171700" y="4457700"/>
              <a:ext cx="381000" cy="190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89304" y="4671060"/>
              <a:ext cx="2145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打破经验依赖，建立数据驱动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生产逻辑，展现新质生产力本质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43400" y="3143250"/>
            <a:ext cx="3505200" cy="2286000"/>
            <a:chOff x="4343400" y="3143250"/>
            <a:chExt cx="35052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4343400" y="3143250"/>
              <a:ext cx="3505200" cy="2286000"/>
            </a:xfrm>
            <a:prstGeom prst="roundRect">
              <a:avLst>
                <a:gd name="adj" fmla="val 1667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956395" y="3523708"/>
              <a:ext cx="273413" cy="273436"/>
              <a:chOff x="5956395" y="3523708"/>
              <a:chExt cx="273413" cy="27343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081712" y="36433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024562" y="35861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56395" y="3523708"/>
                <a:ext cx="273413" cy="273436"/>
              </a:xfrm>
              <a:custGeom>
                <a:avLst/>
                <a:gdLst/>
                <a:ahLst/>
                <a:cxnLst/>
                <a:rect l="l" t="t" r="r" b="b"/>
                <a:pathLst>
                  <a:path w="273413" h="273436">
                    <a:moveTo>
                      <a:pt x="153893" y="6090"/>
                    </a:moveTo>
                    <a:cubicBezTo>
                      <a:pt x="99604" y="0"/>
                      <a:pt x="47394" y="28876"/>
                      <a:pt x="23697" y="78097"/>
                    </a:cubicBezTo>
                    <a:cubicBezTo>
                      <a:pt x="0" y="127319"/>
                      <a:pt x="9990" y="186140"/>
                      <a:pt x="48609" y="224779"/>
                    </a:cubicBezTo>
                    <a:cubicBezTo>
                      <a:pt x="87227" y="263417"/>
                      <a:pt x="146044" y="273436"/>
                      <a:pt x="195277" y="249764"/>
                    </a:cubicBezTo>
                    <a:cubicBezTo>
                      <a:pt x="244511" y="226092"/>
                      <a:pt x="273413" y="173896"/>
                      <a:pt x="267350" y="11960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38862" y="35290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lnTo>
                      <a:pt x="0" y="85725"/>
                    </a:lnTo>
                    <a:lnTo>
                      <a:pt x="42862" y="85725"/>
                    </a:lnTo>
                    <a:lnTo>
                      <a:pt x="85725" y="42862"/>
                    </a:lnTo>
                    <a:lnTo>
                      <a:pt x="42862" y="42862"/>
                    </a:lnTo>
                    <a:lnTo>
                      <a:pt x="42862" y="0"/>
                    </a:ln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3614738"/>
                <a:ext cx="4286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42862">
                    <a:moveTo>
                      <a:pt x="42862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643372" y="4127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普惠价值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905500" y="4457700"/>
              <a:ext cx="381000" cy="190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23104" y="4671060"/>
              <a:ext cx="21457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提供低成本数字化方案，降低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转型门槛，推动产业链协同升级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77200" y="3143250"/>
            <a:ext cx="3505200" cy="2286000"/>
            <a:chOff x="8077200" y="3143250"/>
            <a:chExt cx="3505200" cy="2286000"/>
          </a:xfrm>
        </p:grpSpPr>
        <p:sp>
          <p:nvSpPr>
            <p:cNvPr id="29" name="Rectangle 29"/>
            <p:cNvSpPr/>
            <p:nvPr/>
          </p:nvSpPr>
          <p:spPr>
            <a:xfrm>
              <a:off x="8077200" y="3143250"/>
              <a:ext cx="3505200" cy="2286000"/>
            </a:xfrm>
            <a:prstGeom prst="roundRect">
              <a:avLst>
                <a:gd name="adj" fmla="val 1667"/>
              </a:avLst>
            </a:prstGeom>
            <a:solidFill>
              <a:schemeClr val="accent5"/>
            </a:solidFill>
            <a:ln w="9525">
              <a:solidFill>
                <a:srgbClr val="24406B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715500" y="3537787"/>
              <a:ext cx="228600" cy="239626"/>
              <a:chOff x="9715500" y="3537787"/>
              <a:chExt cx="228600" cy="2396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715500" y="3537787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715500" y="3671888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377172" y="4127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产业意义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39300" y="4457700"/>
              <a:ext cx="381000" cy="1905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80704" y="4671060"/>
              <a:ext cx="2298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缓解库存浪费契合绿色发展，</a:t>
              </a:r>
              <a:br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为传统产业提供可复制转型方法论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0855" y="6496050"/>
            <a:ext cx="2475890" cy="390906"/>
            <a:chOff x="590855" y="6496050"/>
            <a:chExt cx="2475890" cy="390906"/>
          </a:xfrm>
        </p:grpSpPr>
        <p:sp>
          <p:nvSpPr>
            <p:cNvPr id="37" name="Line 37"/>
            <p:cNvSpPr/>
            <p:nvPr/>
          </p:nvSpPr>
          <p:spPr>
            <a:xfrm>
              <a:off x="685800" y="6534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24406B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47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409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2171700" y="6496050"/>
              <a:ext cx="76200" cy="76200"/>
            </a:xfrm>
            <a:prstGeom prst="ellipse">
              <a:avLst/>
            </a:prstGeom>
            <a:noFill/>
            <a:ln w="14288">
              <a:solidFill>
                <a:srgbClr val="24406B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2933700" y="6496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52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14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76855" y="66522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rgbClr val="1B3560"/>
            </a:fgClr>
            <a:bgClr>
              <a:schemeClr val="lt1"/>
            </a:bgClr>
          </a:patt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alpha val="14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50000" t="42000" r="50000" b="58000"/>
            </a:path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178503" y="1721168"/>
            <a:ext cx="3834994" cy="264033"/>
            <a:chOff x="4178503" y="1721168"/>
            <a:chExt cx="3834994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4178503" y="1721168"/>
              <a:ext cx="3834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spc="225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THANK YOU FOR YOUR ATTENTION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60461" y="2480310"/>
            <a:ext cx="8071077" cy="819150"/>
            <a:chOff x="2060461" y="2480310"/>
            <a:chExt cx="8071077" cy="819150"/>
          </a:xfrm>
        </p:grpSpPr>
        <p:sp>
          <p:nvSpPr>
            <p:cNvPr id="6" name="TextBox 6"/>
            <p:cNvSpPr txBox="1"/>
            <p:nvPr/>
          </p:nvSpPr>
          <p:spPr>
            <a:xfrm>
              <a:off x="2060461" y="2480310"/>
              <a:ext cx="807107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effectLst>
                    <a:glow rad="57150">
                      <a:srgbClr val="2FD4A7">
                        <a:alpha val="4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以数据赋能智造 · 共创美好未来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0" y="3143250"/>
              <a:ext cx="1524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114544" y="3722370"/>
            <a:ext cx="1962912" cy="469392"/>
            <a:chOff x="5114544" y="3722370"/>
            <a:chExt cx="1962912" cy="469392"/>
          </a:xfrm>
        </p:grpSpPr>
        <p:sp>
          <p:nvSpPr>
            <p:cNvPr id="9" name="TextBox 9"/>
            <p:cNvSpPr txBox="1"/>
            <p:nvPr/>
          </p:nvSpPr>
          <p:spPr>
            <a:xfrm>
              <a:off x="5114544" y="37223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敬请批评指正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64255" y="4391025"/>
            <a:ext cx="5063490" cy="293370"/>
            <a:chOff x="3564255" y="4391025"/>
            <a:chExt cx="5063490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3564255" y="43910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感谢评委聆听，期待携手推动传统制造业</a:t>
              </a:r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数字化转型升级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5657850"/>
            <a:ext cx="12192000" cy="647700"/>
            <a:chOff x="0" y="5657850"/>
            <a:chExt cx="12192000" cy="647700"/>
          </a:xfrm>
        </p:grpSpPr>
        <p:sp>
          <p:nvSpPr>
            <p:cNvPr id="13" name="Freeform 13"/>
            <p:cNvSpPr/>
            <p:nvPr/>
          </p:nvSpPr>
          <p:spPr>
            <a:xfrm>
              <a:off x="0" y="5695950"/>
              <a:ext cx="12192000" cy="495300"/>
            </a:xfrm>
            <a:custGeom>
              <a:avLst/>
              <a:gdLst/>
              <a:ahLst/>
              <a:cxnLst/>
              <a:rect l="l" t="t" r="r" b="b"/>
              <a:pathLst>
                <a:path w="12192000" h="495300">
                  <a:moveTo>
                    <a:pt x="0" y="495300"/>
                  </a:moveTo>
                  <a:lnTo>
                    <a:pt x="2857500" y="495300"/>
                  </a:lnTo>
                  <a:lnTo>
                    <a:pt x="2857500" y="0"/>
                  </a:lnTo>
                  <a:lnTo>
                    <a:pt x="6667500" y="0"/>
                  </a:lnTo>
                  <a:lnTo>
                    <a:pt x="6667500" y="495300"/>
                  </a:lnTo>
                  <a:lnTo>
                    <a:pt x="12192000" y="495300"/>
                  </a:lnTo>
                </a:path>
              </a:pathLst>
            </a:custGeom>
            <a:noFill/>
            <a:ln w="23812">
              <a:gradFill>
                <a:gsLst>
                  <a:gs pos="0">
                    <a:schemeClr val="accent1">
                      <a:alpha val="0"/>
                    </a:schemeClr>
                  </a:gs>
                  <a:gs pos="35000">
                    <a:schemeClr val="accent1">
                      <a:alpha val="90000"/>
                    </a:schemeClr>
                  </a:gs>
                  <a:gs pos="100000">
                    <a:schemeClr val="accent2">
                      <a:alpha val="90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819400" y="6153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6629400" y="56578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467850" y="6134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410700" y="6076950"/>
              <a:ext cx="228600" cy="228600"/>
            </a:xfrm>
            <a:prstGeom prst="ellipse">
              <a:avLst/>
            </a:prstGeom>
            <a:noFill/>
            <a:ln w="9525">
              <a:solidFill>
                <a:schemeClr val="accent2">
                  <a:alpha val="35000"/>
                </a:schemeClr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954360" y="64427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6"/>
                </a:solidFill>
                <a:latin typeface="Consolas"/>
                <a:ea typeface="Consolas"/>
                <a:cs typeface="Consolas"/>
              </a:rPr>
              <a:t>15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智足科技竞赛版">
  <a:themeElements>
    <a:clrScheme name="智足科技竞赛版">
      <a:dk1>
        <a:srgbClr val="E8EEF9"/>
      </a:dk1>
      <a:lt1>
        <a:srgbClr val="0B1E3A"/>
      </a:lt1>
      <a:dk2>
        <a:srgbClr val="1F497D"/>
      </a:dk2>
      <a:lt2>
        <a:srgbClr val="0B1E3A"/>
      </a:lt2>
      <a:accent1>
        <a:srgbClr val="2E7CF6"/>
      </a:accent1>
      <a:accent2>
        <a:srgbClr val="2FD4A7"/>
      </a:accent2>
      <a:accent3>
        <a:srgbClr val="8FB4FF"/>
      </a:accent3>
      <a:accent4>
        <a:srgbClr val="2E7CF6"/>
      </a:accent4>
      <a:accent5>
        <a:srgbClr val="122A4F"/>
      </a:accent5>
      <a:accent6>
        <a:srgbClr val="9DB2D6"/>
      </a:accent6>
      <a:hlink>
        <a:srgbClr val="2FD4A7"/>
      </a:hlink>
      <a:folHlink>
        <a:srgbClr val="8FB4FF"/>
      </a:folHlink>
    </a:clrScheme>
    <a:fontScheme name="智足科技竞赛版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智足科技竞赛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智足科技竞赛版">
  <a:themeElements>
    <a:clrScheme name="智足科技竞赛版">
      <a:dk1>
        <a:srgbClr val="E8EEF9"/>
      </a:dk1>
      <a:lt1>
        <a:srgbClr val="0B1E3A"/>
      </a:lt1>
      <a:dk2>
        <a:srgbClr val="1F497D"/>
      </a:dk2>
      <a:lt2>
        <a:srgbClr val="0B1E3A"/>
      </a:lt2>
      <a:accent1>
        <a:srgbClr val="2E7CF6"/>
      </a:accent1>
      <a:accent2>
        <a:srgbClr val="2FD4A7"/>
      </a:accent2>
      <a:accent3>
        <a:srgbClr val="8FB4FF"/>
      </a:accent3>
      <a:accent4>
        <a:srgbClr val="2E7CF6"/>
      </a:accent4>
      <a:accent5>
        <a:srgbClr val="122A4F"/>
      </a:accent5>
      <a:accent6>
        <a:srgbClr val="9DB2D6"/>
      </a:accent6>
      <a:hlink>
        <a:srgbClr val="2FD4A7"/>
      </a:hlink>
      <a:folHlink>
        <a:srgbClr val="8FB4FF"/>
      </a:folHlink>
    </a:clrScheme>
    <a:fontScheme name="智足科技竞赛版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智足科技竞赛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2026-09-09T12:28:27Z</dcterms:created>
  <dcterms:modified xsi:type="dcterms:W3CDTF">2026-09-09T12:28:27Z</dcterms:modified>
  <cp:category/>
  <cp:contentStatus/>
</cp:coreProperties>
</file>